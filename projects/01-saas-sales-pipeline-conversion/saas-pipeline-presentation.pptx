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0" r:id="rId2"/>
    <p:sldMasterId id="2147483678" r:id="rId3"/>
    <p:sldMasterId id="2147483666" r:id="rId4"/>
  </p:sldMasterIdLst>
  <p:notesMasterIdLst>
    <p:notesMasterId r:id="rId33"/>
  </p:notesMasterIdLst>
  <p:sldIdLst>
    <p:sldId id="274" r:id="rId5"/>
    <p:sldId id="273" r:id="rId6"/>
    <p:sldId id="257" r:id="rId7"/>
    <p:sldId id="258" r:id="rId8"/>
    <p:sldId id="25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56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>
      <p:cViewPr varScale="1">
        <p:scale>
          <a:sx n="81" d="100"/>
          <a:sy n="81" d="100"/>
        </p:scale>
        <p:origin x="73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D35FF-00B4-40BD-9BFB-45E1D8342BB2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AFA45-07C2-4E3C-83C8-989759C54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EE413C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EE413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EE413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F87D-8D67-2972-1262-731DB796A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E4B34-976A-2FDC-92DE-C92EEC0DF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07BA5-1E73-7071-1DBB-930251A2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A649A-0929-7E22-EF6C-8EE92800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7274A-9ED9-DFEE-ABBD-B055C838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2C1B-29C5-6EE6-A39C-342F4618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A9FE5-33C5-FA54-8E2F-88409FC3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D40AC-DC70-C353-434A-5DCF3A66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815B2-B951-86EF-64BB-144D8753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F0A-DDBB-FF1B-4D79-12ABDFB9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5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C76A-5AC9-1255-374C-469267CC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4305A-CE70-F594-2CFA-D8D7E50C9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8A191-E81D-5B0E-46D0-1F7CF9D6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684F6-54C1-C732-16DA-8F0D4FDB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449-718D-A8B2-49F6-66F35501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5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1888-620B-8790-600D-CA8EFEBE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74D0D-0972-B1CD-7050-B3695F831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44339-0C4D-9383-48A2-BE960BE9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F3327-CFD8-A72C-B838-8453C78C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793B6-EE4A-BEBC-4A48-DEBE630D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5AC1D-0B87-E1F0-FE3D-42EE6463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4DE8-46D7-A1EE-18F3-FD343F26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1109-C230-2C30-C141-F57C5D3A5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AB95C-788A-8B96-9913-C66E1265F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943F8-861C-858B-E082-F4EBE6B4C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A9A7B-5E0E-D826-1D25-BD89E3054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5D93B-930F-FD5C-16E6-5DADE2D4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B1B0C-3F70-8327-DD82-22C2F900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14376-D7A1-6818-FE5B-A14AA651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9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917D-8AD2-44A8-CF0F-3E846C6B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D8695-42BF-7388-218D-7E00AFC8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46A03-EBB8-1996-544D-FA397561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3B04-4DD6-C41E-B265-7D3B1D73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11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661909-612E-B5C6-C524-026D1C72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A2F52-3413-ABE5-9378-443A41BC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C3E43-A71A-A18A-9D1C-0DD1BB6D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7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ABEC-6020-F4B8-9607-2EDAD787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F6C1E-851F-BAE0-FEAE-CB66DB6F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61409-A81B-D660-DBBB-70790EEE4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BDA4F-5118-40AF-B8AE-306EB1EA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858B2-F011-1D0E-DE5A-1A8DE36E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98D02-52B1-7642-98CC-C6C7119F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16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E3AE-2F9C-FC4E-2FC9-83D2FBF8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C8628-0B67-08C3-EB6D-8465781CB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447E5-1F78-4A73-F276-4889B89DD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AA569-CC48-CFB2-244B-FBA0F9B6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8527E-0DD1-1649-967A-321853B7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8AD84-FCE8-52D4-6B48-1B174DD6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98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7121-C8B6-31D9-BE1E-B11CE3C1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561E-98EF-602A-FF6A-57E57EC0A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2DF0E-8973-4221-5596-A700FFEE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2FE9-CFC7-58B4-AFE9-3DE5012B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F99A4-83FF-01E3-25EA-3B950EE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87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5450E-3E38-DCBC-0F57-45AFD5BDB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07DDD-9478-6B5D-5FAC-C4A5F5EC0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6286-E8B2-439A-81BF-2E7230AC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49AE2-7522-22A1-E4C8-9732033D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F826B-40A1-C6BC-A255-6B27D6D2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32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744F-FA35-0268-CA4D-639B6DC1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159ED-B5BD-C289-09C9-94A5FDFF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961A-2E84-52F5-A1DD-A2FDB476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B060F-6F98-A5D9-31D2-0CF519CB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43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B402-91FF-D3D4-FBEE-6C0DAE18D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05FC9-5F7A-0E10-22AD-5050F19CE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6741-FF6E-A2D3-1DF1-16782AE6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445B-C5B7-8408-7AC4-B3AFC21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525C5-376C-6C55-1889-9963958E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38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0877-CB16-FBD3-6DB7-72204039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1A11-8D19-009E-A45A-1C52E214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9703-C765-0BA8-EF5D-4F3D4689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0D54F-0F82-9FC5-3FF9-26E7CB05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C4273-6F2B-AC6D-EE77-F7B4A97C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8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D872-CA37-77DE-53F0-47E5869F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F4E7D-CA6A-A649-492B-4C1FA6DE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40FAE-1662-9C65-5DEC-50F19411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50232-D323-C289-4BF6-83E9E80B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78ECA-B741-7496-92F1-5D1637D9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59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982C-5E5E-36CE-92CD-FB842881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9CDB-28BA-F961-B6C7-57276E904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CF6E4-501D-866C-021B-3C948259D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53D02-D900-1E80-B054-0FE8A1BB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560EE-3BAA-8E98-C0B4-011CBC94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8BE5D-C823-A8C7-7248-9AA13B8C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15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0D75-6719-11C6-8ED3-B187BB4C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AA4E2-56D7-6C8E-1F58-6B2DE61AE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99DEC-04D2-AF46-3406-6D9FF8339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093EF-86E7-5432-1F77-C9DA6B0F5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0E987-61DA-CBE0-7D58-23B3589AC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EC191C-9943-7555-5744-3E2D083B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AC354-3F45-8079-B322-3DA44F6D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8758CC-45FE-D8FE-A5C1-6E8FBBA9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02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2937-B726-7A76-8BDE-FB24236A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AE99F-8077-5469-B7D2-AB89B632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4EFA0-613E-7E2B-CE0B-99BBE31D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92640-E9FD-5C67-F32E-56D5EDEC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071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9102C-D96C-02B7-5BC3-18BB62D8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014E6-B329-4317-D5C0-D8641F18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D45C1-0E79-A8C7-0E7B-75A4B4AE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300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2AD7-CEEB-5DE9-EFFA-2EB04B59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CA9D-854B-1E10-FDE6-050B06D8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BB34F-4A78-3D89-5D16-8F91490F7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22B12-7020-AF39-050D-2D2C2302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CB68D-EFD3-9EA4-003D-9F2B12E9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173ED-D511-C5AC-4F54-7A1ECDCB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03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5A81-88F4-24E1-8973-822A2D1E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61F6A-0620-D5D6-6D88-C9B522C2B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574BF-2F55-DF2C-34E7-42CD48814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70A0E-453E-D8D1-3E26-32F28F17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ECA09-786E-18F2-274F-7CCB49E6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348F3-C9E3-2A09-7AA9-D4AC0814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167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ABD6-31AD-007F-1847-9D2FBD31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3F2B4-52ED-B5D3-5300-31B625A54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FEF3-9A4F-3603-80F8-232E117E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3569-B5C9-8DA2-F9AD-A23A291C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66B1-FB0E-9CFC-7556-221230B0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02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AFF1F-CF6B-C385-02CA-5C229C77F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E0875-9B9F-978B-4CDF-F6DD9E87D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A0AD-0E7C-C927-B12A-95A1CD2F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3999-45FB-0698-5A66-5FA15FED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485CA-53AE-AC70-80E6-642FE6D9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986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3F72-AE76-C1DB-2E29-B115C91BE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E27E9-03B1-4B6D-33B8-49FBB89CA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16CA-38B1-1633-D09D-A926BB3B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AB7C2-5570-5A2C-E950-AFFEC878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DB6EC-4C30-7228-B7CE-D863B87C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146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7D6D-B1B8-2BF8-BB91-C89C08A8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A674F-36B2-1006-147C-7EFA3AFB6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2A3FF-2C1D-3B4B-49B5-87C1B69D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0363E-6935-E93D-ED1A-72A3B089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8CD0-45FA-DF7F-A58A-00162315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50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FA3D-125B-827D-234D-171F7034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2FA4-274C-23CA-7175-233F2268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FE08A-FCBD-3B97-71AE-3F45321B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B9365-789C-0CBC-290E-0C486491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630DE-8B5B-14E5-ACB7-195AE8B3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075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2F59-EE01-371B-D92E-14EAA388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BA09-B704-44E7-3908-7680FAE7B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D2F64-BDE3-5BF8-059D-5F70B54AD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867CB-99DB-D8DE-0FE5-CF8B8FA1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04C87-494E-D80E-0BD0-DBDA0CC2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86E27-5900-F56A-6843-0E9227D7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54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5F4E-E0DC-C8BC-3086-25D03586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CDFEE-4F43-7D70-BDD2-146BF57AF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7A269-F271-8950-3ECE-94DB8A06F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DAF69-59EC-6971-D7E4-692D2B39E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67AA3-9D55-EB1C-CDB6-0F7CCFB84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50F94-2197-B77D-8CB0-7C481043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1A937-3D34-8F11-49F8-DF874F0E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B2AF5-CFB7-09AA-BE77-BF0D4C4D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867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CC67-7D04-3AEB-A481-C5E81B29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F05D-736E-67D5-6A45-7DD88FA9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54E17-C253-9261-CA26-326DF5A0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BD70A-3EB3-44F2-6CE7-406E58B3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33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3C908-9BC2-8A0D-E313-D4CCB4DF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38C2E-2620-7156-FD45-EAFE5250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86020-3A61-C4C2-D399-B4531F4D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844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377F-02C5-2315-FA65-50C8606D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B3F5-3E25-71E8-6012-BD561B11C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026BE-5D76-F936-6E3E-F13C98B14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3DEDC-8D66-5CDA-CE96-D6365BA6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9EE98-01D2-E613-A731-B608A352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FE03D-7CD7-DE85-B458-C721DD5B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63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E26C-062F-5249-8E84-AA2F177F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1026C-5457-D38E-FC26-D41903B07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689BF-C321-1C88-5F46-117972194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8E3FB-1ECB-2143-5046-E54D0E6E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2FFBC-6975-836C-5FD5-98C02D0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05939-BCA4-C9BC-6293-C30F2A99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49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3155-15F9-1EC8-D3B2-9754FD15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A5D1F-3A9C-FB4A-5808-7BF866400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4EFF-624A-67EF-2601-2EC0CAC4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5C7F-C435-A917-BFD9-AB834607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AD67-3F26-1AAD-3638-B2142E87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784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9E4C3-AE11-137A-0289-FF7410FB3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CC7AF-AAFB-0B68-F89F-44B13AC53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91118-30D2-C25E-20FE-290FC99E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41D23-BEF0-2294-A772-0112B73B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1B92A-C470-4A4A-C31A-6E999EBE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602" y="333836"/>
            <a:ext cx="7622794" cy="1217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EE413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857" y="2010155"/>
            <a:ext cx="11162284" cy="215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EC75E-469E-2918-1479-665340DB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55B3-FB68-64A2-47A5-22E785B26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6AFB8-8009-26DD-190B-DF5DE7129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FA68C-8D08-4130-B316-626AE9111E78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515D2-72B5-F4CF-1EBA-5C1ECC9D1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9860B-F6C4-01CD-80D0-DCFB9ED7D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7ED45-4147-4511-95B2-62C28CFF8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6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145A6-E981-C9DA-1687-7D87089AD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5E10-3CBD-FAB2-221D-FE1C00F84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17A1D-A423-2F98-9F5A-F44E0D7CA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907AE-7593-411C-8D42-1952A659BA2E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CC9FC-7D5E-7DA3-E91C-5F9F3AA26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2E8BF-92A9-90A0-A2FA-84B725B55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80823-22F7-4FE9-8C3E-3D70C203B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8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ED49E-5FBB-8ECA-6944-0884BD68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0976-3825-2248-8B6A-392F9A0C7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2AA57-B6CC-BE20-2012-46C6A57F9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0348E-D6A2-4F9B-99A8-69E4DA95977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49E83-8D28-4873-7B7F-0B707137F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1E5A5-62BC-2E81-EB34-D54333AE9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24398-C3FD-43D7-B61B-FE0B2D0A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1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38200" y="11895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1" dirty="0">
                <a:solidFill>
                  <a:srgbClr val="EF413D"/>
                </a:solidFill>
                <a:latin typeface="+mj-lt"/>
              </a:rPr>
              <a:t>ASSIGNMENT</a:t>
            </a:r>
            <a:br>
              <a:rPr lang="en-US" sz="4000" b="1" dirty="0">
                <a:solidFill>
                  <a:srgbClr val="EF413D"/>
                </a:solidFill>
              </a:rPr>
            </a:br>
            <a:r>
              <a:rPr lang="en-US" sz="1100" b="1" dirty="0">
                <a:solidFill>
                  <a:srgbClr val="EF413D"/>
                </a:solidFill>
              </a:rPr>
              <a:t> </a:t>
            </a:r>
            <a:br>
              <a:rPr lang="en-US" sz="4000" b="1" dirty="0"/>
            </a:br>
            <a:r>
              <a:rPr lang="en-US" sz="3400" dirty="0">
                <a:solidFill>
                  <a:srgbClr val="5A5A5A"/>
                </a:solidFill>
              </a:rPr>
              <a:t>Name: …………………………..</a:t>
            </a:r>
            <a:endParaRPr dirty="0">
              <a:solidFill>
                <a:srgbClr val="5A5A5A"/>
              </a:solidFill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838200" y="3339612"/>
            <a:ext cx="10515600" cy="3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 dirty="0">
                <a:solidFill>
                  <a:srgbClr val="EF413D"/>
                </a:solidFill>
              </a:rPr>
              <a:t>Problem Statement</a:t>
            </a:r>
            <a:br>
              <a:rPr lang="en-US" dirty="0"/>
            </a:br>
            <a:r>
              <a:rPr lang="en-US" sz="1400" dirty="0"/>
              <a:t> </a:t>
            </a:r>
            <a:br>
              <a:rPr lang="en-US" dirty="0"/>
            </a:br>
            <a:r>
              <a:rPr lang="en-US" dirty="0"/>
              <a:t>The sales pipeline conversion percentage at </a:t>
            </a:r>
            <a:r>
              <a:rPr lang="en-US" dirty="0" err="1"/>
              <a:t>TechnoServe</a:t>
            </a:r>
            <a:r>
              <a:rPr lang="en-US" dirty="0"/>
              <a:t> (a tech SaaS startup) has dropped from 35% at the end of last fiscal (FY 2017-18) to 25% at present.</a:t>
            </a: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000" dirty="0">
              <a:solidFill>
                <a:srgbClr val="5A5A5A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>
                <a:solidFill>
                  <a:srgbClr val="EF413D"/>
                </a:solidFill>
              </a:rPr>
              <a:t>Assignment Objective</a:t>
            </a:r>
            <a:endParaRPr sz="2400" dirty="0">
              <a:solidFill>
                <a:srgbClr val="EF413D"/>
              </a:solidFill>
            </a:endParaRPr>
          </a:p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 dirty="0"/>
              <a:t> </a:t>
            </a:r>
            <a:endParaRPr sz="2400" dirty="0">
              <a:solidFill>
                <a:srgbClr val="EF413D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Understand the problem, come up with a hypothesis for low conversions faced by </a:t>
            </a:r>
            <a:r>
              <a:rPr lang="en-US" dirty="0" err="1"/>
              <a:t>TechnoServe</a:t>
            </a:r>
            <a:r>
              <a:rPr lang="en-US" dirty="0"/>
              <a:t>, and </a:t>
            </a:r>
            <a:r>
              <a:rPr lang="en-US" dirty="0" err="1"/>
              <a:t>analyse</a:t>
            </a:r>
            <a:r>
              <a:rPr lang="en-US" dirty="0"/>
              <a:t> the dataset provided to arrive at possible solutions to increase it.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1717C9-A632-8382-9C7B-CAF87CA5C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800" y="111698"/>
            <a:ext cx="15240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5F2FE2-5E40-0C8F-478D-8AB4242D8DEB}"/>
              </a:ext>
            </a:extLst>
          </p:cNvPr>
          <p:cNvSpPr txBox="1"/>
          <p:nvPr/>
        </p:nvSpPr>
        <p:spPr>
          <a:xfrm>
            <a:off x="4572000" y="17526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Nandini Soni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446847" y="622499"/>
            <a:ext cx="9877789" cy="73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3F3C"/>
              </a:buClr>
              <a:buSzPts val="3600"/>
              <a:buFont typeface="Lato"/>
              <a:buNone/>
            </a:pPr>
            <a:r>
              <a:rPr lang="en-US" sz="3600" b="1" dirty="0">
                <a:solidFill>
                  <a:srgbClr val="F43F3C"/>
                </a:solidFill>
                <a:latin typeface="+mj-lt"/>
              </a:rPr>
              <a:t>ASSIGNMENT GUIDELINES</a:t>
            </a:r>
            <a:endParaRPr dirty="0">
              <a:latin typeface="+mj-lt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602478" y="1893233"/>
            <a:ext cx="10987044" cy="434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Make </a:t>
            </a:r>
            <a:r>
              <a:rPr lang="en-US" sz="2000" dirty="0">
                <a:latin typeface="Lato"/>
                <a:ea typeface="Lato"/>
                <a:cs typeface="Lato"/>
                <a:sym typeface="Lato"/>
              </a:rPr>
              <a:t>the changes in the</a:t>
            </a: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 PPT </a:t>
            </a:r>
            <a:r>
              <a:rPr lang="en-US" sz="2000" dirty="0">
                <a:latin typeface="Lato"/>
                <a:ea typeface="Lato"/>
                <a:cs typeface="Lato"/>
                <a:sym typeface="Lato"/>
              </a:rPr>
              <a:t>as you solve the parts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This file contains the template for all the parts of the project.</a:t>
            </a: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Check the instructions added in the note section of every slide for clarity.</a:t>
            </a: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Don’t move around any image or text box</a:t>
            </a: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latin typeface="Lato"/>
                <a:ea typeface="Lato"/>
                <a:cs typeface="Lato"/>
                <a:sym typeface="Lato"/>
              </a:rPr>
              <a:t>If you require more/lesser elements, be careful when you copy/delete the existing ones.</a:t>
            </a:r>
            <a:endParaRPr dirty="0"/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497B4F-1503-DCA8-7DE7-2C45118B6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636" y="91238"/>
            <a:ext cx="15240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pc="-85" dirty="0">
                <a:latin typeface="+mj-lt"/>
              </a:rPr>
              <a:t>PART</a:t>
            </a:r>
            <a:r>
              <a:rPr spc="-365" dirty="0">
                <a:latin typeface="+mj-lt"/>
              </a:rPr>
              <a:t> </a:t>
            </a:r>
            <a:r>
              <a:rPr spc="-595" dirty="0">
                <a:latin typeface="+mj-lt"/>
              </a:rPr>
              <a:t>I</a:t>
            </a:r>
            <a:r>
              <a:rPr spc="-350" dirty="0">
                <a:latin typeface="+mj-lt"/>
              </a:rPr>
              <a:t> </a:t>
            </a:r>
            <a:r>
              <a:rPr spc="-345" dirty="0">
                <a:latin typeface="+mj-lt"/>
              </a:rPr>
              <a:t>: </a:t>
            </a:r>
            <a:r>
              <a:rPr spc="-254" dirty="0">
                <a:latin typeface="+mj-lt"/>
              </a:rPr>
              <a:t>1.</a:t>
            </a:r>
            <a:r>
              <a:rPr spc="-370" dirty="0">
                <a:latin typeface="+mj-lt"/>
              </a:rPr>
              <a:t> </a:t>
            </a:r>
            <a:r>
              <a:rPr spc="-185" dirty="0">
                <a:latin typeface="+mj-lt"/>
              </a:rPr>
              <a:t>Understan</a:t>
            </a:r>
            <a:r>
              <a:rPr spc="-220" dirty="0">
                <a:latin typeface="+mj-lt"/>
              </a:rPr>
              <a:t>d</a:t>
            </a:r>
            <a:r>
              <a:rPr spc="-250" dirty="0">
                <a:latin typeface="+mj-lt"/>
              </a:rPr>
              <a:t>ing</a:t>
            </a:r>
            <a:r>
              <a:rPr spc="-360" dirty="0">
                <a:latin typeface="+mj-lt"/>
              </a:rPr>
              <a:t> </a:t>
            </a:r>
            <a:r>
              <a:rPr spc="-185" dirty="0">
                <a:latin typeface="+mj-lt"/>
              </a:rPr>
              <a:t>the</a:t>
            </a:r>
            <a:r>
              <a:rPr spc="-350" dirty="0">
                <a:latin typeface="+mj-lt"/>
              </a:rPr>
              <a:t> </a:t>
            </a:r>
            <a:r>
              <a:rPr spc="-145" dirty="0">
                <a:latin typeface="+mj-lt"/>
              </a:rPr>
              <a:t>Pro</a:t>
            </a:r>
            <a:r>
              <a:rPr spc="-175" dirty="0">
                <a:latin typeface="+mj-lt"/>
              </a:rPr>
              <a:t>b</a:t>
            </a:r>
            <a:r>
              <a:rPr spc="-235" dirty="0">
                <a:latin typeface="+mj-lt"/>
              </a:rPr>
              <a:t>lem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spc="-70" dirty="0">
                <a:solidFill>
                  <a:srgbClr val="5A5A5A"/>
                </a:solidFill>
                <a:latin typeface="+mj-lt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+mj-lt"/>
                <a:cs typeface="Tahoma"/>
              </a:rPr>
              <a:t>a</a:t>
            </a:r>
            <a:r>
              <a:rPr sz="3000" b="0" spc="10" dirty="0">
                <a:solidFill>
                  <a:srgbClr val="5A5A5A"/>
                </a:solidFill>
                <a:latin typeface="+mj-lt"/>
                <a:cs typeface="Tahoma"/>
              </a:rPr>
              <a:t>les</a:t>
            </a:r>
            <a:r>
              <a:rPr sz="3000" b="0" spc="-38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Tahoma"/>
                <a:cs typeface="Tahoma"/>
              </a:rPr>
              <a:t>Pipeline</a:t>
            </a:r>
            <a:r>
              <a:rPr sz="3000" b="0" spc="-37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b="0" spc="-39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b="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-55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b="0" spc="-36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-70" dirty="0">
                <a:solidFill>
                  <a:srgbClr val="5A5A5A"/>
                </a:solidFill>
                <a:latin typeface="Tahoma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b="0" spc="-70" dirty="0">
                <a:solidFill>
                  <a:srgbClr val="5A5A5A"/>
                </a:solidFill>
                <a:latin typeface="Tahoma"/>
                <a:cs typeface="Tahoma"/>
              </a:rPr>
              <a:t>aS</a:t>
            </a:r>
            <a:r>
              <a:rPr sz="3000" b="0" spc="-38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787" y="2008632"/>
            <a:ext cx="2040889" cy="468058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800" b="1" spc="-114" dirty="0">
                <a:latin typeface="Tahoma"/>
                <a:cs typeface="Tahoma"/>
              </a:rPr>
              <a:t>Who?</a:t>
            </a:r>
            <a:endParaRPr sz="18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5"/>
              </a:spcBef>
            </a:pPr>
            <a:r>
              <a:rPr sz="1400" spc="114" dirty="0">
                <a:latin typeface="Tahoma"/>
                <a:cs typeface="Tahoma"/>
              </a:rPr>
              <a:t>A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te</a:t>
            </a:r>
            <a:r>
              <a:rPr sz="1400" spc="5" dirty="0">
                <a:latin typeface="Tahoma"/>
                <a:cs typeface="Tahoma"/>
              </a:rPr>
              <a:t>ch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S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aS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s</a:t>
            </a:r>
            <a:r>
              <a:rPr sz="1400" spc="30" dirty="0">
                <a:latin typeface="Tahoma"/>
                <a:cs typeface="Tahoma"/>
              </a:rPr>
              <a:t>ta</a:t>
            </a:r>
            <a:r>
              <a:rPr sz="1400" spc="20" dirty="0">
                <a:latin typeface="Tahoma"/>
                <a:cs typeface="Tahoma"/>
              </a:rPr>
              <a:t>rtup</a:t>
            </a:r>
            <a:r>
              <a:rPr sz="1400" spc="-130" dirty="0">
                <a:latin typeface="Tahoma"/>
                <a:cs typeface="Tahoma"/>
              </a:rPr>
              <a:t>,</a:t>
            </a:r>
            <a:endParaRPr sz="14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spc="5" dirty="0">
                <a:latin typeface="Tahoma"/>
                <a:cs typeface="Tahoma"/>
              </a:rPr>
              <a:t>TechnoServe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0067" y="2008632"/>
            <a:ext cx="2042160" cy="4680585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110" dirty="0">
                <a:latin typeface="Tahoma"/>
                <a:cs typeface="Tahoma"/>
              </a:rPr>
              <a:t>What?</a:t>
            </a:r>
            <a:endParaRPr sz="1800">
              <a:latin typeface="Tahoma"/>
              <a:cs typeface="Tahoma"/>
            </a:endParaRPr>
          </a:p>
          <a:p>
            <a:pPr marL="92075" marR="9144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pi</a:t>
            </a:r>
            <a:r>
              <a:rPr sz="1400" spc="20" dirty="0">
                <a:latin typeface="Tahoma"/>
                <a:cs typeface="Tahoma"/>
              </a:rPr>
              <a:t>p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20" dirty="0">
                <a:latin typeface="Tahoma"/>
                <a:cs typeface="Tahoma"/>
              </a:rPr>
              <a:t>line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20" dirty="0">
                <a:latin typeface="Tahoma"/>
                <a:cs typeface="Tahoma"/>
              </a:rPr>
              <a:t>rsion  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40" dirty="0">
                <a:latin typeface="Tahoma"/>
                <a:cs typeface="Tahoma"/>
              </a:rPr>
              <a:t>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sal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ve</a:t>
            </a:r>
            <a:r>
              <a:rPr sz="1400" spc="15" dirty="0">
                <a:latin typeface="Tahoma"/>
                <a:cs typeface="Tahoma"/>
              </a:rPr>
              <a:t>r</a:t>
            </a:r>
            <a:r>
              <a:rPr sz="1400" spc="20" dirty="0">
                <a:latin typeface="Tahoma"/>
                <a:cs typeface="Tahoma"/>
              </a:rPr>
              <a:t>y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less.  </a:t>
            </a:r>
            <a:r>
              <a:rPr sz="1400" spc="-20" dirty="0">
                <a:latin typeface="Tahoma"/>
                <a:cs typeface="Tahoma"/>
              </a:rPr>
              <a:t>It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10" dirty="0">
                <a:latin typeface="Tahoma"/>
                <a:cs typeface="Tahoma"/>
              </a:rPr>
              <a:t>all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from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35</a:t>
            </a:r>
            <a:r>
              <a:rPr sz="1400" spc="-145" dirty="0">
                <a:latin typeface="Tahoma"/>
                <a:cs typeface="Tahoma"/>
              </a:rPr>
              <a:t>% 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0" dirty="0">
                <a:latin typeface="Tahoma"/>
                <a:cs typeface="Tahoma"/>
              </a:rPr>
              <a:t>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25%.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1871" y="2008632"/>
            <a:ext cx="2040889" cy="468058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800" b="1" spc="-125" dirty="0">
                <a:latin typeface="Tahoma"/>
                <a:cs typeface="Tahoma"/>
              </a:rPr>
              <a:t>When?</a:t>
            </a:r>
            <a:endParaRPr sz="1800">
              <a:latin typeface="Tahoma"/>
              <a:cs typeface="Tahoma"/>
            </a:endParaRPr>
          </a:p>
          <a:p>
            <a:pPr marL="91440" marR="158750">
              <a:lnSpc>
                <a:spcPct val="100000"/>
              </a:lnSpc>
              <a:spcBef>
                <a:spcPts val="1685"/>
              </a:spcBef>
            </a:pPr>
            <a:r>
              <a:rPr sz="1400" spc="75" dirty="0">
                <a:latin typeface="Tahoma"/>
                <a:cs typeface="Tahoma"/>
              </a:rPr>
              <a:t>F</a:t>
            </a:r>
            <a:r>
              <a:rPr sz="1400" spc="4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om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</a:t>
            </a:r>
            <a:r>
              <a:rPr sz="1400" spc="35" dirty="0">
                <a:latin typeface="Tahoma"/>
                <a:cs typeface="Tahoma"/>
              </a:rPr>
              <a:t>irst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q</a:t>
            </a:r>
            <a:r>
              <a:rPr sz="1400" spc="-15" dirty="0">
                <a:latin typeface="Tahoma"/>
                <a:cs typeface="Tahoma"/>
              </a:rPr>
              <a:t>u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rt</a:t>
            </a:r>
            <a:r>
              <a:rPr sz="1400" spc="45" dirty="0">
                <a:latin typeface="Tahoma"/>
                <a:cs typeface="Tahoma"/>
              </a:rPr>
              <a:t>e</a:t>
            </a:r>
            <a:r>
              <a:rPr sz="1400" spc="55" dirty="0">
                <a:latin typeface="Tahoma"/>
                <a:cs typeface="Tahoma"/>
              </a:rPr>
              <a:t>r 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15" dirty="0">
                <a:latin typeface="Tahoma"/>
                <a:cs typeface="Tahoma"/>
              </a:rPr>
              <a:t>c</a:t>
            </a:r>
            <a:r>
              <a:rPr sz="1400" spc="5" dirty="0">
                <a:latin typeface="Tahoma"/>
                <a:cs typeface="Tahoma"/>
              </a:rPr>
              <a:t>al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ye</a:t>
            </a:r>
            <a:r>
              <a:rPr sz="1400" spc="-10" dirty="0">
                <a:latin typeface="Tahoma"/>
                <a:cs typeface="Tahoma"/>
              </a:rPr>
              <a:t>a</a:t>
            </a:r>
            <a:r>
              <a:rPr sz="1400" spc="60" dirty="0">
                <a:latin typeface="Tahoma"/>
                <a:cs typeface="Tahoma"/>
              </a:rPr>
              <a:t>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201</a:t>
            </a:r>
            <a:r>
              <a:rPr sz="1400" spc="60" dirty="0">
                <a:latin typeface="Tahoma"/>
                <a:cs typeface="Tahoma"/>
              </a:rPr>
              <a:t>8</a:t>
            </a:r>
            <a:r>
              <a:rPr sz="1400" spc="-20" dirty="0">
                <a:latin typeface="Tahoma"/>
                <a:cs typeface="Tahoma"/>
              </a:rPr>
              <a:t>-  </a:t>
            </a:r>
            <a:r>
              <a:rPr sz="1400" spc="50" dirty="0">
                <a:latin typeface="Tahoma"/>
                <a:cs typeface="Tahoma"/>
              </a:rPr>
              <a:t>19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53956" y="2008632"/>
            <a:ext cx="2040889" cy="468058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140" dirty="0">
                <a:latin typeface="Tahoma"/>
                <a:cs typeface="Tahoma"/>
              </a:rPr>
              <a:t>How?</a:t>
            </a:r>
            <a:endParaRPr sz="1800">
              <a:latin typeface="Tahoma"/>
              <a:cs typeface="Tahoma"/>
            </a:endParaRPr>
          </a:p>
          <a:p>
            <a:pPr marL="92075" marR="153670" algn="just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Tahoma"/>
                <a:cs typeface="Tahoma"/>
              </a:rPr>
              <a:t>Th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30" dirty="0">
                <a:latin typeface="Tahoma"/>
                <a:cs typeface="Tahoma"/>
              </a:rPr>
              <a:t>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ine</a:t>
            </a:r>
            <a:r>
              <a:rPr sz="1400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20" dirty="0">
                <a:latin typeface="Tahoma"/>
                <a:cs typeface="Tahoma"/>
              </a:rPr>
              <a:t>ic</a:t>
            </a:r>
            <a:r>
              <a:rPr sz="1400" spc="10" dirty="0">
                <a:latin typeface="Tahoma"/>
                <a:cs typeface="Tahoma"/>
              </a:rPr>
              <a:t>iency 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5" dirty="0">
                <a:latin typeface="Tahoma"/>
                <a:cs typeface="Tahoma"/>
              </a:rPr>
              <a:t>rocess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0" dirty="0">
                <a:latin typeface="Tahoma"/>
                <a:cs typeface="Tahoma"/>
              </a:rPr>
              <a:t>ollow</a:t>
            </a:r>
            <a:r>
              <a:rPr sz="1400" dirty="0">
                <a:latin typeface="Tahoma"/>
                <a:cs typeface="Tahoma"/>
              </a:rPr>
              <a:t>ed  </a:t>
            </a:r>
            <a:r>
              <a:rPr sz="1400" spc="5" dirty="0">
                <a:latin typeface="Tahoma"/>
                <a:cs typeface="Tahoma"/>
              </a:rPr>
              <a:t>b</a:t>
            </a:r>
            <a:r>
              <a:rPr sz="1400" spc="20" dirty="0">
                <a:latin typeface="Tahoma"/>
                <a:cs typeface="Tahoma"/>
              </a:rPr>
              <a:t>y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sal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-25" dirty="0">
                <a:latin typeface="Tahoma"/>
                <a:cs typeface="Tahoma"/>
              </a:rPr>
              <a:t>am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ahoma"/>
              <a:cs typeface="Tahoma"/>
            </a:endParaRPr>
          </a:p>
          <a:p>
            <a:pPr marL="92075" marR="22225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rod</a:t>
            </a:r>
            <a:r>
              <a:rPr sz="1400" spc="20" dirty="0">
                <a:latin typeface="Tahoma"/>
                <a:cs typeface="Tahoma"/>
              </a:rPr>
              <a:t>uct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5" dirty="0">
                <a:latin typeface="Tahoma"/>
                <a:cs typeface="Tahoma"/>
              </a:rPr>
              <a:t>e</a:t>
            </a:r>
            <a:r>
              <a:rPr sz="1400" spc="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 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solving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 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15" dirty="0">
                <a:latin typeface="Tahoma"/>
                <a:cs typeface="Tahoma"/>
              </a:rPr>
              <a:t>ust</a:t>
            </a:r>
            <a:r>
              <a:rPr sz="1400" spc="-5" dirty="0">
                <a:latin typeface="Tahoma"/>
                <a:cs typeface="Tahoma"/>
              </a:rPr>
              <a:t>om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60" dirty="0">
                <a:latin typeface="Tahoma"/>
                <a:cs typeface="Tahoma"/>
              </a:rPr>
              <a:t>r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rob</a:t>
            </a:r>
            <a:r>
              <a:rPr sz="1400" spc="-5" dirty="0">
                <a:latin typeface="Tahoma"/>
                <a:cs typeface="Tahoma"/>
              </a:rPr>
              <a:t>lems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2152" y="2008632"/>
            <a:ext cx="2042160" cy="4680585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110" dirty="0">
                <a:latin typeface="Tahoma"/>
                <a:cs typeface="Tahoma"/>
              </a:rPr>
              <a:t>Where?</a:t>
            </a:r>
            <a:endParaRPr sz="1800">
              <a:latin typeface="Tahoma"/>
              <a:cs typeface="Tahoma"/>
            </a:endParaRPr>
          </a:p>
          <a:p>
            <a:pPr marL="92075" marR="191135">
              <a:lnSpc>
                <a:spcPct val="100000"/>
              </a:lnSpc>
              <a:spcBef>
                <a:spcPts val="1685"/>
              </a:spcBef>
            </a:pPr>
            <a:r>
              <a:rPr sz="1400" spc="114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mong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-5" dirty="0">
                <a:latin typeface="Tahoma"/>
                <a:cs typeface="Tahoma"/>
              </a:rPr>
              <a:t>oss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b</a:t>
            </a:r>
            <a:r>
              <a:rPr sz="1400" spc="15" dirty="0">
                <a:latin typeface="Tahoma"/>
                <a:cs typeface="Tahoma"/>
              </a:rPr>
              <a:t>le 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15" dirty="0">
                <a:latin typeface="Tahoma"/>
                <a:cs typeface="Tahoma"/>
              </a:rPr>
              <a:t>ust</a:t>
            </a:r>
            <a:r>
              <a:rPr sz="1400" spc="-5" dirty="0">
                <a:latin typeface="Tahoma"/>
                <a:cs typeface="Tahoma"/>
              </a:rPr>
              <a:t>om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20" dirty="0">
                <a:latin typeface="Tahoma"/>
                <a:cs typeface="Tahoma"/>
              </a:rPr>
              <a:t>rs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40" dirty="0">
                <a:latin typeface="Tahoma"/>
                <a:cs typeface="Tahoma"/>
              </a:rPr>
              <a:t>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s 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-5" dirty="0">
                <a:latin typeface="Tahoma"/>
                <a:cs typeface="Tahoma"/>
              </a:rPr>
              <a:t>ompany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84201"/>
            <a:ext cx="1507460" cy="7285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pc="-85" dirty="0"/>
              <a:t>PART</a:t>
            </a:r>
            <a:r>
              <a:rPr spc="-365" dirty="0"/>
              <a:t> </a:t>
            </a:r>
            <a:r>
              <a:rPr spc="-595" dirty="0"/>
              <a:t>I</a:t>
            </a:r>
            <a:r>
              <a:rPr spc="-350" dirty="0"/>
              <a:t> </a:t>
            </a:r>
            <a:r>
              <a:rPr spc="-345" dirty="0"/>
              <a:t>: </a:t>
            </a:r>
            <a:r>
              <a:rPr spc="-254" dirty="0"/>
              <a:t>2.</a:t>
            </a:r>
            <a:r>
              <a:rPr spc="-370" dirty="0"/>
              <a:t> </a:t>
            </a:r>
            <a:r>
              <a:rPr spc="-185" dirty="0"/>
              <a:t>Understan</a:t>
            </a:r>
            <a:r>
              <a:rPr spc="-220" dirty="0"/>
              <a:t>d</a:t>
            </a:r>
            <a:r>
              <a:rPr spc="-250" dirty="0"/>
              <a:t>ing</a:t>
            </a:r>
            <a:r>
              <a:rPr spc="-360" dirty="0"/>
              <a:t> </a:t>
            </a:r>
            <a:r>
              <a:rPr spc="-185" dirty="0"/>
              <a:t>the</a:t>
            </a:r>
            <a:r>
              <a:rPr spc="-350" dirty="0"/>
              <a:t> </a:t>
            </a:r>
            <a:r>
              <a:rPr spc="-145" dirty="0"/>
              <a:t>Pro</a:t>
            </a:r>
            <a:r>
              <a:rPr spc="-175" dirty="0"/>
              <a:t>b</a:t>
            </a:r>
            <a:r>
              <a:rPr spc="-235" dirty="0"/>
              <a:t>lem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spc="-70" dirty="0">
                <a:solidFill>
                  <a:srgbClr val="5A5A5A"/>
                </a:solidFill>
                <a:latin typeface="Tahoma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b="0" spc="10" dirty="0">
                <a:solidFill>
                  <a:srgbClr val="5A5A5A"/>
                </a:solidFill>
                <a:latin typeface="Tahoma"/>
                <a:cs typeface="Tahoma"/>
              </a:rPr>
              <a:t>les</a:t>
            </a:r>
            <a:r>
              <a:rPr sz="3000" b="0" spc="-38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+mj-lt"/>
                <a:cs typeface="Tahoma"/>
              </a:rPr>
              <a:t>Pipeline</a:t>
            </a:r>
            <a:r>
              <a:rPr sz="3000" b="0" spc="-37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b="0" spc="-39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b="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-55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b="0" spc="-36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-70" dirty="0">
                <a:solidFill>
                  <a:srgbClr val="5A5A5A"/>
                </a:solidFill>
                <a:latin typeface="Tahoma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b="0" spc="-70" dirty="0">
                <a:solidFill>
                  <a:srgbClr val="5A5A5A"/>
                </a:solidFill>
                <a:latin typeface="Tahoma"/>
                <a:cs typeface="Tahoma"/>
              </a:rPr>
              <a:t>aS</a:t>
            </a:r>
            <a:r>
              <a:rPr sz="3000" b="0" spc="-38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268" y="2008632"/>
            <a:ext cx="2550160" cy="468058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800" b="1" spc="-100" dirty="0">
                <a:latin typeface="Tahoma"/>
                <a:cs typeface="Tahoma"/>
              </a:rPr>
              <a:t>Situation</a:t>
            </a:r>
            <a:endParaRPr sz="1800">
              <a:latin typeface="Tahoma"/>
              <a:cs typeface="Tahoma"/>
            </a:endParaRPr>
          </a:p>
          <a:p>
            <a:pPr marL="270510" indent="-18034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71145" algn="l"/>
              </a:tabLst>
            </a:pPr>
            <a:r>
              <a:rPr sz="1400" spc="160" dirty="0">
                <a:latin typeface="Tahoma"/>
                <a:cs typeface="Tahoma"/>
              </a:rPr>
              <a:t>W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re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30" dirty="0">
                <a:latin typeface="Tahoma"/>
                <a:cs typeface="Tahoma"/>
              </a:rPr>
              <a:t>r</a:t>
            </a:r>
            <a:r>
              <a:rPr sz="1400" spc="45" dirty="0">
                <a:latin typeface="Tahoma"/>
                <a:cs typeface="Tahoma"/>
              </a:rPr>
              <a:t>o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20" dirty="0">
                <a:latin typeface="Tahoma"/>
                <a:cs typeface="Tahoma"/>
              </a:rPr>
              <a:t>uct</a:t>
            </a:r>
            <a:r>
              <a:rPr sz="1400" spc="-15" dirty="0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  <a:p>
            <a:pPr marL="270510">
              <a:lnSpc>
                <a:spcPct val="100000"/>
              </a:lnSpc>
            </a:pPr>
            <a:r>
              <a:rPr sz="1400" spc="3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5" dirty="0">
                <a:latin typeface="Tahoma"/>
                <a:cs typeface="Tahoma"/>
              </a:rPr>
              <a:t>e</a:t>
            </a:r>
            <a:r>
              <a:rPr sz="1400" spc="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</a:t>
            </a:r>
            <a:r>
              <a:rPr sz="1400" spc="20" dirty="0">
                <a:latin typeface="Tahoma"/>
                <a:cs typeface="Tahoma"/>
              </a:rPr>
              <a:t>y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-20" dirty="0">
                <a:latin typeface="Tahoma"/>
                <a:cs typeface="Tahoma"/>
              </a:rPr>
              <a:t>ompany?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ahoma"/>
              <a:cs typeface="Tahoma"/>
            </a:endParaRPr>
          </a:p>
          <a:p>
            <a:pPr marL="270510" marR="492125" indent="-180340">
              <a:lnSpc>
                <a:spcPct val="100000"/>
              </a:lnSpc>
              <a:buAutoNum type="arabicPeriod" startAt="2"/>
              <a:tabLst>
                <a:tab pos="271145" algn="l"/>
              </a:tabLst>
            </a:pPr>
            <a:r>
              <a:rPr sz="1400" spc="105" dirty="0">
                <a:latin typeface="Tahoma"/>
                <a:cs typeface="Tahoma"/>
              </a:rPr>
              <a:t>H</a:t>
            </a:r>
            <a:r>
              <a:rPr sz="1400" spc="25" dirty="0">
                <a:latin typeface="Tahoma"/>
                <a:cs typeface="Tahoma"/>
              </a:rPr>
              <a:t>ow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10" dirty="0">
                <a:latin typeface="Tahoma"/>
                <a:cs typeface="Tahoma"/>
              </a:rPr>
              <a:t>ny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15" dirty="0">
                <a:latin typeface="Tahoma"/>
                <a:cs typeface="Tahoma"/>
              </a:rPr>
              <a:t>lients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s  </a:t>
            </a:r>
            <a:r>
              <a:rPr sz="1400" dirty="0">
                <a:latin typeface="Tahoma"/>
                <a:cs typeface="Tahoma"/>
              </a:rPr>
              <a:t>TechnoS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25" dirty="0">
                <a:latin typeface="Tahoma"/>
                <a:cs typeface="Tahoma"/>
              </a:rPr>
              <a:t>rve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s?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 startAt="2"/>
            </a:pPr>
            <a:endParaRPr sz="1350">
              <a:latin typeface="Tahoma"/>
              <a:cs typeface="Tahoma"/>
            </a:endParaRPr>
          </a:p>
          <a:p>
            <a:pPr marL="270510" marR="195580" indent="-180340">
              <a:lnSpc>
                <a:spcPct val="100000"/>
              </a:lnSpc>
              <a:buAutoNum type="arabicPeriod" startAt="2"/>
              <a:tabLst>
                <a:tab pos="271145" algn="l"/>
              </a:tabLst>
            </a:pPr>
            <a:r>
              <a:rPr sz="1400" spc="160" dirty="0">
                <a:latin typeface="Tahoma"/>
                <a:cs typeface="Tahoma"/>
              </a:rPr>
              <a:t>W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st</a:t>
            </a:r>
            <a:r>
              <a:rPr sz="1400" spc="25" dirty="0">
                <a:latin typeface="Tahoma"/>
                <a:cs typeface="Tahoma"/>
              </a:rPr>
              <a:t>re</a:t>
            </a:r>
            <a:r>
              <a:rPr sz="1400" dirty="0">
                <a:latin typeface="Tahoma"/>
                <a:cs typeface="Tahoma"/>
              </a:rPr>
              <a:t>ngth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of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  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m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15" dirty="0">
                <a:latin typeface="Tahoma"/>
                <a:cs typeface="Tahoma"/>
              </a:rPr>
              <a:t>loye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w</a:t>
            </a:r>
            <a:r>
              <a:rPr sz="1400" spc="45" dirty="0">
                <a:latin typeface="Tahoma"/>
                <a:cs typeface="Tahoma"/>
              </a:rPr>
              <a:t>it</a:t>
            </a:r>
            <a:r>
              <a:rPr sz="1400" spc="10" dirty="0">
                <a:latin typeface="Tahoma"/>
                <a:cs typeface="Tahoma"/>
              </a:rPr>
              <a:t>hin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</a:t>
            </a:r>
            <a:r>
              <a:rPr sz="1400" spc="-15" dirty="0">
                <a:latin typeface="Tahoma"/>
                <a:cs typeface="Tahoma"/>
              </a:rPr>
              <a:t>company?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AutoNum type="arabicPeriod" startAt="2"/>
            </a:pPr>
            <a:endParaRPr sz="1350">
              <a:latin typeface="Tahoma"/>
              <a:cs typeface="Tahoma"/>
            </a:endParaRPr>
          </a:p>
          <a:p>
            <a:pPr marL="270510" marR="116205" indent="-180340">
              <a:lnSpc>
                <a:spcPct val="100000"/>
              </a:lnSpc>
              <a:buAutoNum type="arabicPeriod" startAt="2"/>
              <a:tabLst>
                <a:tab pos="271145" algn="l"/>
              </a:tabLst>
            </a:pPr>
            <a:r>
              <a:rPr sz="1400" spc="50" dirty="0">
                <a:latin typeface="Tahoma"/>
                <a:cs typeface="Tahoma"/>
              </a:rPr>
              <a:t>Wh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str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ngt</a:t>
            </a:r>
            <a:r>
              <a:rPr sz="1400" dirty="0">
                <a:latin typeface="Tahoma"/>
                <a:cs typeface="Tahoma"/>
              </a:rPr>
              <a:t>h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Sal</a:t>
            </a:r>
            <a:r>
              <a:rPr sz="1400" spc="-20" dirty="0">
                <a:latin typeface="Tahoma"/>
                <a:cs typeface="Tahoma"/>
              </a:rPr>
              <a:t>es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-25" dirty="0">
                <a:latin typeface="Tahoma"/>
                <a:cs typeface="Tahoma"/>
              </a:rPr>
              <a:t>am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TechnoS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25" dirty="0">
                <a:latin typeface="Tahoma"/>
                <a:cs typeface="Tahoma"/>
              </a:rPr>
              <a:t>rve</a:t>
            </a:r>
            <a:r>
              <a:rPr sz="1400" spc="-105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9855" y="2008632"/>
            <a:ext cx="2551430" cy="4680585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100" dirty="0">
                <a:latin typeface="Tahoma"/>
                <a:cs typeface="Tahoma"/>
              </a:rPr>
              <a:t>Problem</a:t>
            </a:r>
            <a:endParaRPr sz="1800">
              <a:latin typeface="Tahoma"/>
              <a:cs typeface="Tahoma"/>
            </a:endParaRPr>
          </a:p>
          <a:p>
            <a:pPr marL="271780" marR="438150" indent="-180340" algn="just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72415" algn="l"/>
              </a:tabLst>
            </a:pPr>
            <a:r>
              <a:rPr sz="1400" spc="105" dirty="0">
                <a:latin typeface="Tahoma"/>
                <a:cs typeface="Tahoma"/>
              </a:rPr>
              <a:t>H</a:t>
            </a:r>
            <a:r>
              <a:rPr sz="1400" spc="30" dirty="0">
                <a:latin typeface="Tahoma"/>
                <a:cs typeface="Tahoma"/>
              </a:rPr>
              <a:t>ow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o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chnoS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20" dirty="0">
                <a:latin typeface="Tahoma"/>
                <a:cs typeface="Tahoma"/>
              </a:rPr>
              <a:t>rve  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d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f</a:t>
            </a:r>
            <a:r>
              <a:rPr sz="1400" spc="20" dirty="0">
                <a:latin typeface="Tahoma"/>
                <a:cs typeface="Tahoma"/>
              </a:rPr>
              <a:t>y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market?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142240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120" dirty="0">
                <a:latin typeface="Tahoma"/>
                <a:cs typeface="Tahoma"/>
              </a:rPr>
              <a:t>O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av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r</a:t>
            </a:r>
            <a:r>
              <a:rPr sz="1400" spc="10" dirty="0">
                <a:latin typeface="Tahoma"/>
                <a:cs typeface="Tahoma"/>
              </a:rPr>
              <a:t>a</a:t>
            </a:r>
            <a:r>
              <a:rPr sz="1400" spc="-65" dirty="0">
                <a:latin typeface="Tahoma"/>
                <a:cs typeface="Tahoma"/>
              </a:rPr>
              <a:t>ge,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how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1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15" dirty="0">
                <a:latin typeface="Tahoma"/>
                <a:cs typeface="Tahoma"/>
              </a:rPr>
              <a:t>y 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spc="-10" dirty="0">
                <a:latin typeface="Tahoma"/>
                <a:cs typeface="Tahoma"/>
              </a:rPr>
              <a:t>ays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do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it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ke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0" dirty="0">
                <a:latin typeface="Tahoma"/>
                <a:cs typeface="Tahoma"/>
              </a:rPr>
              <a:t>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20" dirty="0">
                <a:latin typeface="Tahoma"/>
                <a:cs typeface="Tahoma"/>
              </a:rPr>
              <a:t>onve</a:t>
            </a:r>
            <a:r>
              <a:rPr sz="1400" dirty="0">
                <a:latin typeface="Tahoma"/>
                <a:cs typeface="Tahoma"/>
              </a:rPr>
              <a:t>r</a:t>
            </a:r>
            <a:r>
              <a:rPr sz="1400" spc="50" dirty="0">
                <a:latin typeface="Tahoma"/>
                <a:cs typeface="Tahoma"/>
              </a:rPr>
              <a:t>t 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l</a:t>
            </a:r>
            <a:r>
              <a:rPr sz="1400" spc="15" dirty="0">
                <a:latin typeface="Tahoma"/>
                <a:cs typeface="Tahoma"/>
              </a:rPr>
              <a:t>e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10" dirty="0">
                <a:latin typeface="Tahoma"/>
                <a:cs typeface="Tahoma"/>
              </a:rPr>
              <a:t>d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into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client?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14541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-55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-25" dirty="0">
                <a:latin typeface="Tahoma"/>
                <a:cs typeface="Tahoma"/>
              </a:rPr>
              <a:t>am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skilled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0" dirty="0">
                <a:latin typeface="Tahoma"/>
                <a:cs typeface="Tahoma"/>
              </a:rPr>
              <a:t>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sell 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rod</a:t>
            </a:r>
            <a:r>
              <a:rPr sz="1400" spc="20" dirty="0">
                <a:latin typeface="Tahoma"/>
                <a:cs typeface="Tahoma"/>
              </a:rPr>
              <a:t>uct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40" dirty="0">
                <a:latin typeface="Tahoma"/>
                <a:cs typeface="Tahoma"/>
              </a:rPr>
              <a:t>r</a:t>
            </a:r>
            <a:r>
              <a:rPr sz="1400" spc="4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et?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11747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40" dirty="0">
                <a:latin typeface="Tahoma"/>
                <a:cs typeface="Tahoma"/>
              </a:rPr>
              <a:t>Do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sal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-25" dirty="0">
                <a:latin typeface="Tahoma"/>
                <a:cs typeface="Tahoma"/>
              </a:rPr>
              <a:t>am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ve  </a:t>
            </a:r>
            <a:r>
              <a:rPr sz="1400" spc="25" dirty="0">
                <a:latin typeface="Tahoma"/>
                <a:cs typeface="Tahoma"/>
              </a:rPr>
              <a:t>k</a:t>
            </a:r>
            <a:r>
              <a:rPr sz="1400" spc="20" dirty="0">
                <a:latin typeface="Tahoma"/>
                <a:cs typeface="Tahoma"/>
              </a:rPr>
              <a:t>nowl</a:t>
            </a:r>
            <a:r>
              <a:rPr sz="1400" spc="10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-30" dirty="0">
                <a:latin typeface="Tahoma"/>
                <a:cs typeface="Tahoma"/>
              </a:rPr>
              <a:t>ge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out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he  p</a:t>
            </a:r>
            <a:r>
              <a:rPr sz="1400" spc="25" dirty="0">
                <a:latin typeface="Tahoma"/>
                <a:cs typeface="Tahoma"/>
              </a:rPr>
              <a:t>rod</a:t>
            </a:r>
            <a:r>
              <a:rPr sz="1400" spc="20" dirty="0">
                <a:latin typeface="Tahoma"/>
                <a:cs typeface="Tahoma"/>
              </a:rPr>
              <a:t>uct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5" dirty="0">
                <a:latin typeface="Tahoma"/>
                <a:cs typeface="Tahoma"/>
              </a:rPr>
              <a:t>h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5" dirty="0">
                <a:latin typeface="Tahoma"/>
                <a:cs typeface="Tahoma"/>
              </a:rPr>
              <a:t>e</a:t>
            </a:r>
            <a:r>
              <a:rPr sz="1400" spc="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10" dirty="0">
                <a:latin typeface="Tahoma"/>
                <a:cs typeface="Tahoma"/>
              </a:rPr>
              <a:t>o 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15" dirty="0">
                <a:latin typeface="Tahoma"/>
                <a:cs typeface="Tahoma"/>
              </a:rPr>
              <a:t>ust</a:t>
            </a:r>
            <a:r>
              <a:rPr sz="1400" spc="-5" dirty="0">
                <a:latin typeface="Tahoma"/>
                <a:cs typeface="Tahoma"/>
              </a:rPr>
              <a:t>om</a:t>
            </a:r>
            <a:r>
              <a:rPr sz="1400" spc="-1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rs?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0967" y="2008632"/>
            <a:ext cx="2551430" cy="468058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120" dirty="0">
                <a:latin typeface="Tahoma"/>
                <a:cs typeface="Tahoma"/>
              </a:rPr>
              <a:t>Implication</a:t>
            </a:r>
            <a:endParaRPr sz="1800">
              <a:latin typeface="Tahoma"/>
              <a:cs typeface="Tahoma"/>
            </a:endParaRPr>
          </a:p>
          <a:p>
            <a:pPr marL="271780" marR="101600" indent="-18034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72415" algn="l"/>
              </a:tabLst>
            </a:pPr>
            <a:r>
              <a:rPr sz="1400" spc="55" dirty="0">
                <a:latin typeface="Tahoma"/>
                <a:cs typeface="Tahoma"/>
              </a:rPr>
              <a:t>Wh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imp</a:t>
            </a:r>
            <a:r>
              <a:rPr sz="1400" spc="15" dirty="0">
                <a:latin typeface="Tahoma"/>
                <a:cs typeface="Tahoma"/>
              </a:rPr>
              <a:t>act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low  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5" dirty="0">
                <a:latin typeface="Tahoma"/>
                <a:cs typeface="Tahoma"/>
              </a:rPr>
              <a:t>ales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p</a:t>
            </a:r>
            <a:r>
              <a:rPr sz="1400" spc="15" dirty="0">
                <a:latin typeface="Tahoma"/>
                <a:cs typeface="Tahoma"/>
              </a:rPr>
              <a:t>eline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</a:t>
            </a:r>
            <a:r>
              <a:rPr sz="1400" spc="15" dirty="0">
                <a:latin typeface="Tahoma"/>
                <a:cs typeface="Tahoma"/>
              </a:rPr>
              <a:t>v</a:t>
            </a:r>
            <a:r>
              <a:rPr sz="1400" spc="20" dirty="0">
                <a:latin typeface="Tahoma"/>
                <a:cs typeface="Tahoma"/>
              </a:rPr>
              <a:t>ersio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on 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40" dirty="0">
                <a:latin typeface="Tahoma"/>
                <a:cs typeface="Tahoma"/>
              </a:rPr>
              <a:t>ro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45" dirty="0">
                <a:latin typeface="Tahoma"/>
                <a:cs typeface="Tahoma"/>
              </a:rPr>
              <a:t>it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</a:t>
            </a:r>
            <a:r>
              <a:rPr sz="1400" spc="-5" dirty="0">
                <a:latin typeface="Tahoma"/>
                <a:cs typeface="Tahoma"/>
              </a:rPr>
              <a:t>om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-30" dirty="0">
                <a:latin typeface="Tahoma"/>
                <a:cs typeface="Tahoma"/>
              </a:rPr>
              <a:t>any?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451484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25" dirty="0">
                <a:latin typeface="Tahoma"/>
                <a:cs typeface="Tahoma"/>
              </a:rPr>
              <a:t>Does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low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p</a:t>
            </a:r>
            <a:r>
              <a:rPr sz="1400" spc="10" dirty="0">
                <a:latin typeface="Tahoma"/>
                <a:cs typeface="Tahoma"/>
              </a:rPr>
              <a:t>eline  con</a:t>
            </a:r>
            <a:r>
              <a:rPr sz="1400" spc="15" dirty="0">
                <a:latin typeface="Tahoma"/>
                <a:cs typeface="Tahoma"/>
              </a:rPr>
              <a:t>v</a:t>
            </a:r>
            <a:r>
              <a:rPr sz="1400" spc="20" dirty="0">
                <a:latin typeface="Tahoma"/>
                <a:cs typeface="Tahoma"/>
              </a:rPr>
              <a:t>ersio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im</a:t>
            </a:r>
            <a:r>
              <a:rPr sz="1400" spc="10" dirty="0">
                <a:latin typeface="Tahoma"/>
                <a:cs typeface="Tahoma"/>
              </a:rPr>
              <a:t>p</a:t>
            </a:r>
            <a:r>
              <a:rPr sz="1400" spc="-10" dirty="0">
                <a:latin typeface="Tahoma"/>
                <a:cs typeface="Tahoma"/>
              </a:rPr>
              <a:t>ac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yo</a:t>
            </a:r>
            <a:r>
              <a:rPr sz="1400" spc="25" dirty="0">
                <a:latin typeface="Tahoma"/>
                <a:cs typeface="Tahoma"/>
              </a:rPr>
              <a:t>ur  </a:t>
            </a:r>
            <a:r>
              <a:rPr sz="1400" spc="10" dirty="0">
                <a:latin typeface="Tahoma"/>
                <a:cs typeface="Tahoma"/>
              </a:rPr>
              <a:t>targets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futu</a:t>
            </a:r>
            <a:r>
              <a:rPr sz="1400" spc="25" dirty="0">
                <a:latin typeface="Tahoma"/>
                <a:cs typeface="Tahoma"/>
              </a:rPr>
              <a:t>re</a:t>
            </a:r>
            <a:r>
              <a:rPr sz="1400" spc="-105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15430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50" dirty="0">
                <a:latin typeface="Tahoma"/>
                <a:cs typeface="Tahoma"/>
              </a:rPr>
              <a:t>What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im</a:t>
            </a:r>
            <a:r>
              <a:rPr sz="1400" spc="10" dirty="0">
                <a:latin typeface="Tahoma"/>
                <a:cs typeface="Tahoma"/>
              </a:rPr>
              <a:t>p</a:t>
            </a:r>
            <a:r>
              <a:rPr sz="1400" spc="-10" dirty="0">
                <a:latin typeface="Tahoma"/>
                <a:cs typeface="Tahoma"/>
              </a:rPr>
              <a:t>ac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15" dirty="0">
                <a:latin typeface="Tahoma"/>
                <a:cs typeface="Tahoma"/>
              </a:rPr>
              <a:t>roblem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</a:t>
            </a:r>
            <a:r>
              <a:rPr sz="1400" spc="-5" dirty="0">
                <a:latin typeface="Tahoma"/>
                <a:cs typeface="Tahoma"/>
              </a:rPr>
              <a:t>ales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0" dirty="0">
                <a:latin typeface="Tahoma"/>
                <a:cs typeface="Tahoma"/>
              </a:rPr>
              <a:t>or</a:t>
            </a:r>
            <a:r>
              <a:rPr sz="1400" spc="35" dirty="0">
                <a:latin typeface="Tahoma"/>
                <a:cs typeface="Tahoma"/>
              </a:rPr>
              <a:t>c</a:t>
            </a:r>
            <a:r>
              <a:rPr sz="1400" spc="-45" dirty="0">
                <a:latin typeface="Tahoma"/>
                <a:cs typeface="Tahoma"/>
              </a:rPr>
              <a:t>e?  </a:t>
            </a:r>
            <a:r>
              <a:rPr sz="1400" spc="120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re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5" dirty="0">
                <a:latin typeface="Tahoma"/>
                <a:cs typeface="Tahoma"/>
              </a:rPr>
              <a:t>hey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ble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0" dirty="0">
                <a:latin typeface="Tahoma"/>
                <a:cs typeface="Tahoma"/>
              </a:rPr>
              <a:t>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30" dirty="0">
                <a:latin typeface="Tahoma"/>
                <a:cs typeface="Tahoma"/>
              </a:rPr>
              <a:t>er</a:t>
            </a:r>
            <a:r>
              <a:rPr sz="1400" spc="10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orm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as 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30" dirty="0">
                <a:latin typeface="Tahoma"/>
                <a:cs typeface="Tahoma"/>
              </a:rPr>
              <a:t>er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</a:t>
            </a:r>
            <a:r>
              <a:rPr sz="1400" spc="10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ec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20" dirty="0">
                <a:latin typeface="Tahoma"/>
                <a:cs typeface="Tahoma"/>
              </a:rPr>
              <a:t>atio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spc="-105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40576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55" dirty="0">
                <a:latin typeface="Tahoma"/>
                <a:cs typeface="Tahoma"/>
              </a:rPr>
              <a:t>How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does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low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30" dirty="0">
                <a:latin typeface="Tahoma"/>
                <a:cs typeface="Tahoma"/>
              </a:rPr>
              <a:t>p</a:t>
            </a:r>
            <a:r>
              <a:rPr sz="1400" spc="10" dirty="0">
                <a:latin typeface="Tahoma"/>
                <a:cs typeface="Tahoma"/>
              </a:rPr>
              <a:t>eline  con</a:t>
            </a:r>
            <a:r>
              <a:rPr sz="1400" spc="15" dirty="0">
                <a:latin typeface="Tahoma"/>
                <a:cs typeface="Tahoma"/>
              </a:rPr>
              <a:t>v</a:t>
            </a:r>
            <a:r>
              <a:rPr sz="1400" spc="20" dirty="0">
                <a:latin typeface="Tahoma"/>
                <a:cs typeface="Tahoma"/>
              </a:rPr>
              <a:t>ersio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rest</a:t>
            </a:r>
            <a:r>
              <a:rPr sz="1400" spc="35" dirty="0">
                <a:latin typeface="Tahoma"/>
                <a:cs typeface="Tahoma"/>
              </a:rPr>
              <a:t>ric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yo</a:t>
            </a:r>
            <a:r>
              <a:rPr sz="1400" spc="25" dirty="0">
                <a:latin typeface="Tahoma"/>
                <a:cs typeface="Tahoma"/>
              </a:rPr>
              <a:t>ur  </a:t>
            </a:r>
            <a:r>
              <a:rPr sz="1400" spc="-60" dirty="0">
                <a:latin typeface="Tahoma"/>
                <a:cs typeface="Tahoma"/>
              </a:rPr>
              <a:t>g</a:t>
            </a:r>
            <a:r>
              <a:rPr sz="1400" spc="30" dirty="0">
                <a:latin typeface="Tahoma"/>
                <a:cs typeface="Tahoma"/>
              </a:rPr>
              <a:t>ro</a:t>
            </a:r>
            <a:r>
              <a:rPr sz="1400" spc="55" dirty="0">
                <a:latin typeface="Tahoma"/>
                <a:cs typeface="Tahoma"/>
              </a:rPr>
              <a:t>wt</a:t>
            </a:r>
            <a:r>
              <a:rPr sz="1400" dirty="0">
                <a:latin typeface="Tahoma"/>
                <a:cs typeface="Tahoma"/>
              </a:rPr>
              <a:t>h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market?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2080" y="2008632"/>
            <a:ext cx="2550160" cy="4680585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90" dirty="0">
                <a:latin typeface="Tahoma"/>
                <a:cs typeface="Tahoma"/>
              </a:rPr>
              <a:t>Need-Payoff</a:t>
            </a:r>
            <a:endParaRPr sz="1800">
              <a:latin typeface="Tahoma"/>
              <a:cs typeface="Tahoma"/>
            </a:endParaRPr>
          </a:p>
          <a:p>
            <a:pPr marL="271780" marR="442595" indent="-18034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72415" algn="l"/>
              </a:tabLst>
            </a:pPr>
            <a:r>
              <a:rPr sz="1400" spc="50" dirty="0">
                <a:latin typeface="Tahoma"/>
                <a:cs typeface="Tahoma"/>
              </a:rPr>
              <a:t>Wh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inc</a:t>
            </a:r>
            <a:r>
              <a:rPr sz="1400" spc="20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ase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  </a:t>
            </a:r>
            <a:r>
              <a:rPr sz="1400" spc="20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venue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expect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if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rob</a:t>
            </a:r>
            <a:r>
              <a:rPr sz="1400" spc="5" dirty="0">
                <a:latin typeface="Tahoma"/>
                <a:cs typeface="Tahoma"/>
              </a:rPr>
              <a:t>lem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solved</a:t>
            </a:r>
            <a:r>
              <a:rPr sz="1400" spc="-105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425450" indent="-180340" algn="just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105" dirty="0">
                <a:latin typeface="Tahoma"/>
                <a:cs typeface="Tahoma"/>
              </a:rPr>
              <a:t>H</a:t>
            </a:r>
            <a:r>
              <a:rPr sz="1400" spc="25" dirty="0">
                <a:latin typeface="Tahoma"/>
                <a:cs typeface="Tahoma"/>
              </a:rPr>
              <a:t>ow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will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m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15" dirty="0">
                <a:latin typeface="Tahoma"/>
                <a:cs typeface="Tahoma"/>
              </a:rPr>
              <a:t>loye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s  </a:t>
            </a:r>
            <a:r>
              <a:rPr sz="1400" spc="5" dirty="0">
                <a:latin typeface="Tahoma"/>
                <a:cs typeface="Tahoma"/>
              </a:rPr>
              <a:t>b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1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f</a:t>
            </a:r>
            <a:r>
              <a:rPr sz="1400" spc="45" dirty="0">
                <a:latin typeface="Tahoma"/>
                <a:cs typeface="Tahoma"/>
              </a:rPr>
              <a:t>it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if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rob</a:t>
            </a:r>
            <a:r>
              <a:rPr sz="1400" spc="5" dirty="0">
                <a:latin typeface="Tahoma"/>
                <a:cs typeface="Tahoma"/>
              </a:rPr>
              <a:t>lem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  </a:t>
            </a:r>
            <a:r>
              <a:rPr sz="1400" spc="-5" dirty="0">
                <a:latin typeface="Tahoma"/>
                <a:cs typeface="Tahoma"/>
              </a:rPr>
              <a:t>solved?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9207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105" dirty="0">
                <a:latin typeface="Tahoma"/>
                <a:cs typeface="Tahoma"/>
              </a:rPr>
              <a:t>H</a:t>
            </a:r>
            <a:r>
              <a:rPr sz="1400" spc="25" dirty="0">
                <a:latin typeface="Tahoma"/>
                <a:cs typeface="Tahoma"/>
              </a:rPr>
              <a:t>ow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will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you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10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extra  </a:t>
            </a:r>
            <a:r>
              <a:rPr sz="1400" spc="20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venue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gen</a:t>
            </a:r>
            <a:r>
              <a:rPr sz="1400" spc="-2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r</a:t>
            </a:r>
            <a:r>
              <a:rPr sz="1400" spc="10" dirty="0">
                <a:latin typeface="Tahoma"/>
                <a:cs typeface="Tahoma"/>
              </a:rPr>
              <a:t>a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from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</a:t>
            </a:r>
            <a:r>
              <a:rPr sz="1400" spc="15" dirty="0">
                <a:latin typeface="Tahoma"/>
                <a:cs typeface="Tahoma"/>
              </a:rPr>
              <a:t>inc</a:t>
            </a:r>
            <a:r>
              <a:rPr sz="1400" spc="20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as</a:t>
            </a:r>
            <a:r>
              <a:rPr sz="1400" spc="-20" dirty="0">
                <a:latin typeface="Tahoma"/>
                <a:cs typeface="Tahoma"/>
              </a:rPr>
              <a:t>e</a:t>
            </a:r>
            <a:r>
              <a:rPr sz="1400" spc="10" dirty="0">
                <a:latin typeface="Tahoma"/>
                <a:cs typeface="Tahoma"/>
              </a:rPr>
              <a:t>d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sal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60" dirty="0">
                <a:latin typeface="Tahoma"/>
                <a:cs typeface="Tahoma"/>
              </a:rPr>
              <a:t>s?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ahoma"/>
              <a:buAutoNum type="arabicPeriod"/>
            </a:pPr>
            <a:endParaRPr sz="1350">
              <a:latin typeface="Tahoma"/>
              <a:cs typeface="Tahoma"/>
            </a:endParaRPr>
          </a:p>
          <a:p>
            <a:pPr marL="271780" marR="172085" indent="-180340">
              <a:lnSpc>
                <a:spcPct val="100000"/>
              </a:lnSpc>
              <a:buAutoNum type="arabicPeriod"/>
              <a:tabLst>
                <a:tab pos="272415" algn="l"/>
              </a:tabLst>
            </a:pPr>
            <a:r>
              <a:rPr sz="1400" spc="70" dirty="0">
                <a:latin typeface="Tahoma"/>
                <a:cs typeface="Tahoma"/>
              </a:rPr>
              <a:t>Will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30" dirty="0">
                <a:latin typeface="Tahoma"/>
                <a:cs typeface="Tahoma"/>
              </a:rPr>
              <a:t>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inc</a:t>
            </a:r>
            <a:r>
              <a:rPr sz="1400" spc="20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ase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 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40" dirty="0">
                <a:latin typeface="Tahoma"/>
                <a:cs typeface="Tahoma"/>
              </a:rPr>
              <a:t>r</a:t>
            </a:r>
            <a:r>
              <a:rPr sz="1400" spc="4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et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share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  </a:t>
            </a:r>
            <a:r>
              <a:rPr sz="1400" spc="-15" dirty="0">
                <a:latin typeface="Tahoma"/>
                <a:cs typeface="Tahoma"/>
              </a:rPr>
              <a:t>company?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8800" y="58962"/>
            <a:ext cx="1349583" cy="652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pc="-85" dirty="0">
                <a:latin typeface="+mn-lt"/>
              </a:rPr>
              <a:t>PART</a:t>
            </a:r>
            <a:r>
              <a:rPr spc="-365" dirty="0">
                <a:latin typeface="+mn-lt"/>
              </a:rPr>
              <a:t> </a:t>
            </a:r>
            <a:r>
              <a:rPr dirty="0">
                <a:latin typeface="+mn-lt"/>
              </a:rPr>
              <a:t>II</a:t>
            </a:r>
            <a:r>
              <a:rPr spc="-350" dirty="0">
                <a:latin typeface="+mn-lt"/>
              </a:rPr>
              <a:t> </a:t>
            </a:r>
            <a:r>
              <a:rPr spc="-345" dirty="0">
                <a:latin typeface="+mn-lt"/>
              </a:rPr>
              <a:t>:</a:t>
            </a:r>
            <a:r>
              <a:rPr spc="-350" dirty="0">
                <a:latin typeface="+mn-lt"/>
              </a:rPr>
              <a:t> </a:t>
            </a:r>
            <a:r>
              <a:rPr spc="-120" dirty="0">
                <a:latin typeface="+mn-lt"/>
              </a:rPr>
              <a:t>Fo</a:t>
            </a:r>
            <a:r>
              <a:rPr spc="-105" dirty="0">
                <a:latin typeface="+mn-lt"/>
              </a:rPr>
              <a:t>r</a:t>
            </a:r>
            <a:r>
              <a:rPr spc="-235" dirty="0">
                <a:latin typeface="+mn-lt"/>
              </a:rPr>
              <a:t>mulating</a:t>
            </a:r>
            <a:r>
              <a:rPr spc="-375" dirty="0">
                <a:latin typeface="+mn-lt"/>
              </a:rPr>
              <a:t> </a:t>
            </a:r>
            <a:r>
              <a:rPr spc="-180" dirty="0">
                <a:latin typeface="+mn-lt"/>
              </a:rPr>
              <a:t>Hypothe</a:t>
            </a:r>
            <a:r>
              <a:rPr spc="-165" dirty="0">
                <a:latin typeface="+mn-lt"/>
              </a:rPr>
              <a:t>s</a:t>
            </a:r>
            <a:r>
              <a:rPr spc="-240" dirty="0">
                <a:latin typeface="+mn-lt"/>
              </a:rPr>
              <a:t>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spc="-70" dirty="0">
                <a:solidFill>
                  <a:srgbClr val="5A5A5A"/>
                </a:solidFill>
                <a:latin typeface="+mn-lt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+mn-lt"/>
                <a:cs typeface="Tahoma"/>
              </a:rPr>
              <a:t>a</a:t>
            </a:r>
            <a:r>
              <a:rPr sz="3000" b="0" spc="10" dirty="0">
                <a:solidFill>
                  <a:srgbClr val="5A5A5A"/>
                </a:solidFill>
                <a:latin typeface="+mn-lt"/>
                <a:cs typeface="Tahoma"/>
              </a:rPr>
              <a:t>les</a:t>
            </a:r>
            <a:r>
              <a:rPr sz="3000" b="0" spc="-380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+mn-lt"/>
                <a:cs typeface="Tahoma"/>
              </a:rPr>
              <a:t>Pipeline</a:t>
            </a:r>
            <a:r>
              <a:rPr sz="3000" b="0" spc="-375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50" dirty="0">
                <a:solidFill>
                  <a:srgbClr val="5A5A5A"/>
                </a:solidFill>
                <a:latin typeface="+mn-lt"/>
                <a:cs typeface="Tahoma"/>
              </a:rPr>
              <a:t>Conversion</a:t>
            </a:r>
            <a:r>
              <a:rPr sz="3000" b="0" spc="-395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+mn-lt"/>
                <a:cs typeface="Tahoma"/>
              </a:rPr>
              <a:t>at</a:t>
            </a:r>
            <a:r>
              <a:rPr sz="3000" b="0" spc="-355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-55" dirty="0">
                <a:solidFill>
                  <a:srgbClr val="5A5A5A"/>
                </a:solidFill>
                <a:latin typeface="+mn-lt"/>
                <a:cs typeface="Tahoma"/>
              </a:rPr>
              <a:t>a</a:t>
            </a:r>
            <a:r>
              <a:rPr sz="3000" b="0" spc="-360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-70" dirty="0">
                <a:solidFill>
                  <a:srgbClr val="5A5A5A"/>
                </a:solidFill>
                <a:latin typeface="+mn-lt"/>
                <a:cs typeface="Tahoma"/>
              </a:rPr>
              <a:t>S</a:t>
            </a:r>
            <a:r>
              <a:rPr sz="3000" b="0" spc="-65" dirty="0">
                <a:solidFill>
                  <a:srgbClr val="5A5A5A"/>
                </a:solidFill>
                <a:latin typeface="+mn-lt"/>
                <a:cs typeface="Tahoma"/>
              </a:rPr>
              <a:t>a</a:t>
            </a:r>
            <a:r>
              <a:rPr sz="3000" b="0" spc="-70" dirty="0">
                <a:solidFill>
                  <a:srgbClr val="5A5A5A"/>
                </a:solidFill>
                <a:latin typeface="+mn-lt"/>
                <a:cs typeface="Tahoma"/>
              </a:rPr>
              <a:t>aS</a:t>
            </a:r>
            <a:r>
              <a:rPr sz="3000" b="0" spc="-380" dirty="0">
                <a:solidFill>
                  <a:srgbClr val="5A5A5A"/>
                </a:solidFill>
                <a:latin typeface="+mn-lt"/>
                <a:cs typeface="Tahoma"/>
              </a:rPr>
              <a:t> </a:t>
            </a:r>
            <a:r>
              <a:rPr sz="3000" b="0" spc="30" dirty="0">
                <a:solidFill>
                  <a:srgbClr val="5A5A5A"/>
                </a:solidFill>
                <a:latin typeface="+mn-lt"/>
                <a:cs typeface="Tahoma"/>
              </a:rPr>
              <a:t>Startup</a:t>
            </a:r>
            <a:endParaRPr sz="3000" dirty="0">
              <a:latin typeface="+mn-lt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5112" y="2010155"/>
            <a:ext cx="11162030" cy="4493260"/>
          </a:xfrm>
          <a:custGeom>
            <a:avLst/>
            <a:gdLst/>
            <a:ahLst/>
            <a:cxnLst/>
            <a:rect l="l" t="t" r="r" b="b"/>
            <a:pathLst>
              <a:path w="11162030" h="4493259">
                <a:moveTo>
                  <a:pt x="0" y="4492752"/>
                </a:moveTo>
                <a:lnTo>
                  <a:pt x="11161776" y="4492752"/>
                </a:lnTo>
                <a:lnTo>
                  <a:pt x="11161776" y="0"/>
                </a:lnTo>
                <a:lnTo>
                  <a:pt x="0" y="0"/>
                </a:lnTo>
                <a:lnTo>
                  <a:pt x="0" y="4492752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547" y="2040128"/>
            <a:ext cx="468439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F</a:t>
            </a:r>
            <a:r>
              <a:rPr sz="1800" b="1" spc="-45" dirty="0">
                <a:latin typeface="Tahoma"/>
                <a:cs typeface="Tahoma"/>
              </a:rPr>
              <a:t>r</a:t>
            </a:r>
            <a:r>
              <a:rPr sz="1800" b="1" spc="-135" dirty="0">
                <a:latin typeface="Tahoma"/>
                <a:cs typeface="Tahoma"/>
              </a:rPr>
              <a:t>amewo</a:t>
            </a:r>
            <a:r>
              <a:rPr sz="1800" b="1" spc="-85" dirty="0">
                <a:latin typeface="Tahoma"/>
                <a:cs typeface="Tahoma"/>
              </a:rPr>
              <a:t>r</a:t>
            </a:r>
            <a:r>
              <a:rPr sz="1800" b="1" spc="-95" dirty="0">
                <a:latin typeface="Tahoma"/>
                <a:cs typeface="Tahoma"/>
              </a:rPr>
              <a:t>k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Us</a:t>
            </a:r>
            <a:r>
              <a:rPr sz="1800" b="1" spc="-110" dirty="0">
                <a:latin typeface="Tahoma"/>
                <a:cs typeface="Tahoma"/>
              </a:rPr>
              <a:t>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spc="-25" dirty="0">
                <a:latin typeface="Tahoma"/>
                <a:cs typeface="Tahoma"/>
              </a:rPr>
              <a:t>Issue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tree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framework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conjugation</a:t>
            </a:r>
            <a:r>
              <a:rPr sz="1400" spc="-21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with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85" dirty="0">
                <a:latin typeface="Tahoma"/>
                <a:cs typeface="Tahoma"/>
              </a:rPr>
              <a:t>5C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Framework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547" y="3381502"/>
            <a:ext cx="566166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0" dirty="0">
                <a:latin typeface="Tahoma"/>
                <a:cs typeface="Tahoma"/>
              </a:rPr>
              <a:t>R</a:t>
            </a:r>
            <a:r>
              <a:rPr sz="1800" b="1" spc="-120" dirty="0">
                <a:latin typeface="Tahoma"/>
                <a:cs typeface="Tahoma"/>
              </a:rPr>
              <a:t>e</a:t>
            </a:r>
            <a:r>
              <a:rPr sz="1800" b="1" spc="-150" dirty="0">
                <a:latin typeface="Tahoma"/>
                <a:cs typeface="Tahoma"/>
              </a:rPr>
              <a:t>a</a:t>
            </a:r>
            <a:r>
              <a:rPr sz="1800" b="1" spc="-125" dirty="0">
                <a:latin typeface="Tahoma"/>
                <a:cs typeface="Tahoma"/>
              </a:rPr>
              <a:t>s</a:t>
            </a:r>
            <a:r>
              <a:rPr sz="1800" b="1" spc="-110" dirty="0">
                <a:latin typeface="Tahoma"/>
                <a:cs typeface="Tahoma"/>
              </a:rPr>
              <a:t>on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for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u</a:t>
            </a:r>
            <a:r>
              <a:rPr sz="1800" b="1" spc="-125" dirty="0">
                <a:latin typeface="Tahoma"/>
                <a:cs typeface="Tahoma"/>
              </a:rPr>
              <a:t>s</a:t>
            </a:r>
            <a:r>
              <a:rPr sz="1800" b="1" spc="-70" dirty="0">
                <a:latin typeface="Tahoma"/>
                <a:cs typeface="Tahoma"/>
              </a:rPr>
              <a:t>i</a:t>
            </a:r>
            <a:r>
              <a:rPr sz="1800" b="1" spc="-170" dirty="0">
                <a:latin typeface="Tahoma"/>
                <a:cs typeface="Tahoma"/>
              </a:rPr>
              <a:t>ng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the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se</a:t>
            </a:r>
            <a:r>
              <a:rPr sz="1800" b="1" spc="-60" dirty="0">
                <a:latin typeface="Tahoma"/>
                <a:cs typeface="Tahoma"/>
              </a:rPr>
              <a:t>l</a:t>
            </a:r>
            <a:r>
              <a:rPr sz="1800" b="1" spc="-95" dirty="0">
                <a:latin typeface="Tahoma"/>
                <a:cs typeface="Tahoma"/>
              </a:rPr>
              <a:t>ected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framewo</a:t>
            </a:r>
            <a:r>
              <a:rPr sz="1800" b="1" spc="-85" dirty="0">
                <a:latin typeface="Tahoma"/>
                <a:cs typeface="Tahoma"/>
              </a:rPr>
              <a:t>r</a:t>
            </a:r>
            <a:r>
              <a:rPr sz="1800" b="1" spc="-95" dirty="0">
                <a:latin typeface="Tahoma"/>
                <a:cs typeface="Tahoma"/>
              </a:rPr>
              <a:t>k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400" spc="-20" dirty="0">
                <a:latin typeface="Tahoma"/>
                <a:cs typeface="Tahoma"/>
              </a:rPr>
              <a:t>It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easy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cover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all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domains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using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above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mentioned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frameworks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547" y="4844922"/>
            <a:ext cx="1010602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0" dirty="0">
                <a:latin typeface="Tahoma"/>
                <a:cs typeface="Tahoma"/>
              </a:rPr>
              <a:t>How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have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you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used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the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framework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here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problem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has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been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divided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into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five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C’s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framework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then,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each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20" dirty="0">
                <a:latin typeface="Tahoma"/>
                <a:cs typeface="Tahoma"/>
              </a:rPr>
              <a:t>C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again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branched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using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issue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tree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framework.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9100" y="62050"/>
            <a:ext cx="1527118" cy="738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311" y="1865407"/>
            <a:ext cx="3881471" cy="49056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9394" y="3360420"/>
            <a:ext cx="6586164" cy="16654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2300" y="58854"/>
            <a:ext cx="1349797" cy="6523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4B8232-0EE7-290F-D1DB-EC493EBEFC12}"/>
              </a:ext>
            </a:extLst>
          </p:cNvPr>
          <p:cNvSpPr/>
          <p:nvPr/>
        </p:nvSpPr>
        <p:spPr>
          <a:xfrm>
            <a:off x="304800" y="1752601"/>
            <a:ext cx="914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dist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dist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75277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1: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Customer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Targeting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-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Industry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able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map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with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apt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lead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based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industry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P1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118942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2: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Customer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Targeting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-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Budget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</a:t>
            </a:r>
            <a:r>
              <a:rPr sz="1400" spc="-5" dirty="0">
                <a:latin typeface="Tahoma"/>
                <a:cs typeface="Tahoma"/>
              </a:rPr>
              <a:t>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ta</a:t>
            </a:r>
            <a:r>
              <a:rPr sz="1400" spc="1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geting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right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set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spc="-75" dirty="0">
                <a:latin typeface="Tahoma"/>
                <a:cs typeface="Tahoma"/>
              </a:rPr>
              <a:t>s.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(</a:t>
            </a:r>
            <a:r>
              <a:rPr lang="en-US" sz="1400" spc="-80" dirty="0">
                <a:latin typeface="Tahoma"/>
                <a:cs typeface="Tahoma"/>
              </a:rPr>
              <a:t>  </a:t>
            </a:r>
            <a:r>
              <a:rPr sz="1400" spc="-80" dirty="0">
                <a:latin typeface="Tahoma"/>
                <a:cs typeface="Tahoma"/>
              </a:rPr>
              <a:t>P1</a:t>
            </a:r>
            <a:r>
              <a:rPr lang="en-US" sz="1400" spc="-175" dirty="0">
                <a:latin typeface="Tahoma"/>
                <a:cs typeface="Tahoma"/>
              </a:rPr>
              <a:t>  </a:t>
            </a:r>
            <a:r>
              <a:rPr sz="1400" spc="-175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has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targeted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only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certain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type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customers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2600" y="55122"/>
            <a:ext cx="1488987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111024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3: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Customer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Targeting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-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Location</a:t>
            </a:r>
            <a:endParaRPr sz="1800" dirty="0">
              <a:latin typeface="Tahoma"/>
              <a:cs typeface="Tahoma"/>
            </a:endParaRPr>
          </a:p>
          <a:p>
            <a:pPr marL="90805" marR="5328285">
              <a:lnSpc>
                <a:spcPct val="200000"/>
              </a:lnSpc>
              <a:spcBef>
                <a:spcPts val="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able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reach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leads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particular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locations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(P2)</a:t>
            </a:r>
            <a:endParaRPr lang="en-US" sz="1400" spc="-114" dirty="0">
              <a:latin typeface="Tahoma"/>
              <a:cs typeface="Tahoma"/>
            </a:endParaRPr>
          </a:p>
          <a:p>
            <a:pPr marL="90805" marR="5328285">
              <a:lnSpc>
                <a:spcPct val="200000"/>
              </a:lnSpc>
              <a:spcBef>
                <a:spcPts val="10"/>
              </a:spcBef>
            </a:pP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leads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location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are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easier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convert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but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targeted</a:t>
            </a:r>
            <a:r>
              <a:rPr sz="1400" spc="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(P3)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111088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90" dirty="0">
                <a:latin typeface="Tahoma"/>
                <a:cs typeface="Tahoma"/>
              </a:rPr>
              <a:t>Bra</a:t>
            </a:r>
            <a:r>
              <a:rPr sz="1800" b="1" spc="-110" dirty="0">
                <a:latin typeface="Tahoma"/>
                <a:cs typeface="Tahoma"/>
              </a:rPr>
              <a:t>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4: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85" dirty="0">
                <a:latin typeface="Tahoma"/>
                <a:cs typeface="Tahoma"/>
              </a:rPr>
              <a:t>S</a:t>
            </a:r>
            <a:r>
              <a:rPr sz="1800" b="1" spc="-130" dirty="0">
                <a:latin typeface="Tahoma"/>
                <a:cs typeface="Tahoma"/>
              </a:rPr>
              <a:t>a</a:t>
            </a:r>
            <a:r>
              <a:rPr sz="1800" b="1" spc="-60" dirty="0">
                <a:latin typeface="Tahoma"/>
                <a:cs typeface="Tahoma"/>
              </a:rPr>
              <a:t>l</a:t>
            </a:r>
            <a:r>
              <a:rPr sz="1800" b="1" spc="-125" dirty="0">
                <a:latin typeface="Tahoma"/>
                <a:cs typeface="Tahoma"/>
              </a:rPr>
              <a:t>es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Pipel</a:t>
            </a:r>
            <a:r>
              <a:rPr sz="1800" b="1" spc="-45" dirty="0">
                <a:latin typeface="Tahoma"/>
                <a:cs typeface="Tahoma"/>
              </a:rPr>
              <a:t>i</a:t>
            </a:r>
            <a:r>
              <a:rPr sz="1800" b="1" spc="-135" dirty="0">
                <a:latin typeface="Tahoma"/>
                <a:cs typeface="Tahoma"/>
              </a:rPr>
              <a:t>n</a:t>
            </a:r>
            <a:r>
              <a:rPr sz="1800" b="1" spc="-110" dirty="0">
                <a:latin typeface="Tahoma"/>
                <a:cs typeface="Tahoma"/>
              </a:rPr>
              <a:t>e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Co</a:t>
            </a:r>
            <a:r>
              <a:rPr sz="1800" b="1" spc="-80" dirty="0">
                <a:latin typeface="Tahoma"/>
                <a:cs typeface="Tahoma"/>
              </a:rPr>
              <a:t>n</a:t>
            </a:r>
            <a:r>
              <a:rPr sz="1800" b="1" spc="-95" dirty="0">
                <a:latin typeface="Tahoma"/>
                <a:cs typeface="Tahoma"/>
              </a:rPr>
              <a:t>v</a:t>
            </a:r>
            <a:r>
              <a:rPr sz="1800" b="1" spc="-105" dirty="0">
                <a:latin typeface="Tahoma"/>
                <a:cs typeface="Tahoma"/>
              </a:rPr>
              <a:t>e</a:t>
            </a:r>
            <a:r>
              <a:rPr sz="1800" b="1" spc="-95" dirty="0">
                <a:latin typeface="Tahoma"/>
                <a:cs typeface="Tahoma"/>
              </a:rPr>
              <a:t>rsion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Cust</a:t>
            </a:r>
            <a:r>
              <a:rPr sz="1800" b="1" spc="-95" dirty="0">
                <a:latin typeface="Tahoma"/>
                <a:cs typeface="Tahoma"/>
              </a:rPr>
              <a:t>o</a:t>
            </a:r>
            <a:r>
              <a:rPr sz="1800" b="1" spc="-210" dirty="0">
                <a:latin typeface="Tahoma"/>
                <a:cs typeface="Tahoma"/>
              </a:rPr>
              <a:t>m</a:t>
            </a:r>
            <a:r>
              <a:rPr sz="1800" b="1" spc="-75" dirty="0">
                <a:latin typeface="Tahoma"/>
                <a:cs typeface="Tahoma"/>
              </a:rPr>
              <a:t>er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85" dirty="0">
                <a:latin typeface="Tahoma"/>
                <a:cs typeface="Tahoma"/>
              </a:rPr>
              <a:t>S</a:t>
            </a:r>
            <a:r>
              <a:rPr sz="1800" b="1" spc="-114" dirty="0">
                <a:latin typeface="Tahoma"/>
                <a:cs typeface="Tahoma"/>
              </a:rPr>
              <a:t>e</a:t>
            </a:r>
            <a:r>
              <a:rPr sz="1800" b="1" spc="-135" dirty="0">
                <a:latin typeface="Tahoma"/>
                <a:cs typeface="Tahoma"/>
              </a:rPr>
              <a:t>n</a:t>
            </a:r>
            <a:r>
              <a:rPr sz="1800" b="1" spc="-105" dirty="0">
                <a:latin typeface="Tahoma"/>
                <a:cs typeface="Tahoma"/>
              </a:rPr>
              <a:t>tim</a:t>
            </a:r>
            <a:r>
              <a:rPr sz="1800" b="1" spc="-120" dirty="0">
                <a:latin typeface="Tahoma"/>
                <a:cs typeface="Tahoma"/>
              </a:rPr>
              <a:t>e</a:t>
            </a:r>
            <a:r>
              <a:rPr sz="1800" b="1" spc="-135" dirty="0">
                <a:latin typeface="Tahoma"/>
                <a:cs typeface="Tahoma"/>
              </a:rPr>
              <a:t>n</a:t>
            </a:r>
            <a:r>
              <a:rPr sz="1800" b="1" spc="-55" dirty="0">
                <a:latin typeface="Tahoma"/>
                <a:cs typeface="Tahoma"/>
              </a:rPr>
              <a:t>t</a:t>
            </a:r>
            <a:endParaRPr sz="1800" dirty="0">
              <a:latin typeface="Tahoma"/>
              <a:cs typeface="Tahoma"/>
            </a:endParaRPr>
          </a:p>
          <a:p>
            <a:pPr marL="90805" marR="3660775">
              <a:lnSpc>
                <a:spcPct val="200000"/>
              </a:lnSpc>
              <a:spcBef>
                <a:spcPts val="10"/>
              </a:spcBef>
            </a:pPr>
            <a:r>
              <a:rPr sz="1400" spc="-5" dirty="0">
                <a:latin typeface="Tahoma"/>
                <a:cs typeface="Tahoma"/>
              </a:rPr>
              <a:t>Leads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believe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that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quality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product/service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with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industry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trends.</a:t>
            </a:r>
            <a:r>
              <a:rPr sz="1400" spc="15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(P2) </a:t>
            </a:r>
            <a:r>
              <a:rPr sz="1400" spc="-420" dirty="0">
                <a:latin typeface="Tahoma"/>
                <a:cs typeface="Tahoma"/>
              </a:rPr>
              <a:t> </a:t>
            </a:r>
            <a:endParaRPr lang="en-US" sz="1400" spc="-420" dirty="0">
              <a:latin typeface="Tahoma"/>
              <a:cs typeface="Tahoma"/>
            </a:endParaRPr>
          </a:p>
          <a:p>
            <a:pPr marL="90805" marR="3660775">
              <a:lnSpc>
                <a:spcPct val="200000"/>
              </a:lnSpc>
              <a:spcBef>
                <a:spcPts val="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rice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solut</a:t>
            </a:r>
            <a:r>
              <a:rPr sz="1400" spc="10" dirty="0">
                <a:latin typeface="Tahoma"/>
                <a:cs typeface="Tahoma"/>
              </a:rPr>
              <a:t>ions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f</a:t>
            </a:r>
            <a:r>
              <a:rPr sz="1400" spc="15" dirty="0">
                <a:latin typeface="Tahoma"/>
                <a:cs typeface="Tahoma"/>
              </a:rPr>
              <a:t>f</a:t>
            </a:r>
            <a:r>
              <a:rPr sz="1400" spc="35" dirty="0">
                <a:latin typeface="Tahoma"/>
                <a:cs typeface="Tahoma"/>
              </a:rPr>
              <a:t>e</a:t>
            </a:r>
            <a:r>
              <a:rPr sz="1400" spc="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unr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ason</a:t>
            </a:r>
            <a:r>
              <a:rPr sz="1400" spc="-2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b</a:t>
            </a:r>
            <a:r>
              <a:rPr sz="1400" spc="30" dirty="0">
                <a:latin typeface="Tahoma"/>
                <a:cs typeface="Tahoma"/>
              </a:rPr>
              <a:t>ly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high.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(P2)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9900" y="79448"/>
            <a:ext cx="1491135" cy="7206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16248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5: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-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Products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product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offered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doesn't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resolve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client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issues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P0</a:t>
            </a:r>
            <a:r>
              <a:rPr lang="en-US" sz="1400" spc="-114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spc="35" dirty="0">
                <a:latin typeface="Tahoma"/>
                <a:cs typeface="Tahoma"/>
              </a:rPr>
              <a:t>Quality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product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low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compared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industry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standards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P1</a:t>
            </a:r>
            <a:r>
              <a:rPr lang="en-US" sz="1400" spc="-114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offered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are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outdated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market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P0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753411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6: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Market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Reputation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doesn't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good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reputation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market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3400" y="53995"/>
            <a:ext cx="1438724" cy="695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16248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7: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Internal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distribution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resources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inefficient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sales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team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inefficient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selling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market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expectations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set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are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unrealistic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can't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completed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P3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118942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8: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Internal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Marketing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equipped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any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marketing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channels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effectively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P0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able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differentiate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good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advertising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channel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its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P0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900" y="45564"/>
            <a:ext cx="1613786" cy="7799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75277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40" dirty="0">
                <a:latin typeface="Tahoma"/>
                <a:cs typeface="Tahoma"/>
              </a:rPr>
              <a:t>9: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Competition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Price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Comparison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lower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price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same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111088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10: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Competition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Product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Comparison</a:t>
            </a:r>
            <a:endParaRPr sz="1800" dirty="0">
              <a:latin typeface="Tahoma"/>
              <a:cs typeface="Tahoma"/>
            </a:endParaRPr>
          </a:p>
          <a:p>
            <a:pPr marL="90805" marR="4592955">
              <a:lnSpc>
                <a:spcPct val="200000"/>
              </a:lnSpc>
              <a:spcBef>
                <a:spcPts val="10"/>
              </a:spcBef>
            </a:pP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better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quality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product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offer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same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price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better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product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offer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customers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7200" y="66748"/>
            <a:ext cx="1491135" cy="7206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n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n-lt"/>
                <a:cs typeface="Tahoma"/>
              </a:rPr>
              <a:t>Sales Pipeline Conversion at a SaaS Startup</a:t>
            </a:r>
            <a:endParaRPr sz="3000" dirty="0">
              <a:latin typeface="+mn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16248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11: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Competition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Services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Comparison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better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reach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customers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market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P4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provided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value-added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services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additional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product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that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doesn't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P3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sales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team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competitor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more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efficient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P4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753411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12: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Company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Competition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Technology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Comparison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spc="30" dirty="0">
                <a:latin typeface="Tahoma"/>
                <a:cs typeface="Tahoma"/>
              </a:rPr>
              <a:t>Competitors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technological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advantage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over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P1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0" y="54639"/>
            <a:ext cx="1437435" cy="6946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75277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13: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Collaboration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Distribution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Partners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distribution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channel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preferred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customers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118942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14: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Collaboration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Vendors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Hardware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Vendors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quality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materials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bought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according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industry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standards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P3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materials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bought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from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their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supplier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are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costlier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compared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others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P3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8300" y="78911"/>
            <a:ext cx="1597358" cy="7719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1188787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15: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Collaboration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Vendors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Software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Vendors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vendors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are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charging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higher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fee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provided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vendors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are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not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supplying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latest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softwares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available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with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them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P3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753411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16: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Context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Market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spc="10" dirty="0">
                <a:latin typeface="Tahoma"/>
                <a:cs typeface="Tahoma"/>
              </a:rPr>
              <a:t>There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reduction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demand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services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offered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industry.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9100" y="75663"/>
            <a:ext cx="1577699" cy="7625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 : Formulating Hypotheses</a:t>
            </a: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112" y="2010155"/>
            <a:ext cx="11162030" cy="75277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17: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Context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Technology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90"/>
              </a:spcBef>
            </a:pPr>
            <a:r>
              <a:rPr sz="1400" spc="10" dirty="0">
                <a:latin typeface="Tahoma"/>
                <a:cs typeface="Tahoma"/>
              </a:rPr>
              <a:t>There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new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technology</a:t>
            </a:r>
            <a:r>
              <a:rPr sz="1400" spc="-1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available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that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has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made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some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products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20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redundant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112" y="4443984"/>
            <a:ext cx="11162030" cy="753411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spc="-100" dirty="0">
                <a:latin typeface="Tahoma"/>
                <a:cs typeface="Tahoma"/>
              </a:rPr>
              <a:t>Branch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18: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Low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85" dirty="0">
                <a:latin typeface="Tahoma"/>
                <a:cs typeface="Tahoma"/>
              </a:rPr>
              <a:t>Pipeline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Conversion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80" dirty="0">
                <a:latin typeface="Tahoma"/>
                <a:cs typeface="Tahoma"/>
              </a:rPr>
              <a:t>Context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–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Regulations</a:t>
            </a:r>
            <a:endParaRPr sz="1800" dirty="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689"/>
              </a:spcBef>
            </a:pPr>
            <a:r>
              <a:rPr sz="1400" spc="114" dirty="0">
                <a:latin typeface="Tahoma"/>
                <a:cs typeface="Tahoma"/>
              </a:rPr>
              <a:t>A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new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regulation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has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affected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company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-95" dirty="0">
                <a:latin typeface="Tahoma"/>
                <a:cs typeface="Tahoma"/>
              </a:rPr>
              <a:t>(e.g.,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foreign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players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are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now</a:t>
            </a:r>
            <a:r>
              <a:rPr sz="1400" spc="-1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allowed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practice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India)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-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(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P2</a:t>
            </a:r>
            <a:r>
              <a:rPr lang="en-US" sz="1400" spc="-114" dirty="0">
                <a:latin typeface="Tahoma"/>
                <a:cs typeface="Tahoma"/>
              </a:rPr>
              <a:t>  </a:t>
            </a:r>
            <a:r>
              <a:rPr sz="1400" spc="-114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7200" y="54532"/>
            <a:ext cx="1542687" cy="7455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4602" y="333836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2756" y="992632"/>
            <a:ext cx="7155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5A5A5A"/>
                </a:solidFill>
                <a:latin typeface="Tahoma"/>
                <a:cs typeface="Tahoma"/>
              </a:rPr>
              <a:t>Sales</a:t>
            </a:r>
            <a:r>
              <a:rPr sz="3000" spc="-24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Pipeline</a:t>
            </a:r>
            <a:r>
              <a:rPr sz="3000" spc="-2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spc="-26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spc="-21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spc="-22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80" dirty="0">
                <a:solidFill>
                  <a:srgbClr val="5A5A5A"/>
                </a:solidFill>
                <a:latin typeface="Tahoma"/>
                <a:cs typeface="Tahoma"/>
              </a:rPr>
              <a:t>SaaS</a:t>
            </a:r>
            <a:r>
              <a:rPr sz="3000" spc="-24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80" y="1807464"/>
            <a:ext cx="2405380" cy="4462780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b="1" spc="-10" dirty="0"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Technology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Primary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400">
              <a:latin typeface="Tahoma"/>
              <a:cs typeface="Tahoma"/>
            </a:endParaRPr>
          </a:p>
          <a:p>
            <a:pPr marL="90805">
              <a:lnSpc>
                <a:spcPct val="100000"/>
              </a:lnSpc>
            </a:pPr>
            <a:r>
              <a:rPr sz="1400" spc="65" dirty="0">
                <a:latin typeface="Tahoma"/>
                <a:cs typeface="Tahoma"/>
              </a:rPr>
              <a:t>B2B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Sales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Medium</a:t>
            </a:r>
            <a:endParaRPr sz="1400">
              <a:latin typeface="Tahoma"/>
              <a:cs typeface="Tahoma"/>
            </a:endParaRPr>
          </a:p>
          <a:p>
            <a:pPr marL="90805" marR="342900">
              <a:lnSpc>
                <a:spcPct val="300200"/>
              </a:lnSpc>
              <a:spcBef>
                <a:spcPts val="1675"/>
              </a:spcBef>
            </a:pPr>
            <a:r>
              <a:rPr sz="1400" dirty="0">
                <a:latin typeface="Tahoma"/>
                <a:cs typeface="Tahoma"/>
              </a:rPr>
              <a:t>Client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Sizing </a:t>
            </a:r>
            <a:r>
              <a:rPr sz="1400" spc="20" dirty="0">
                <a:latin typeface="Tahoma"/>
                <a:cs typeface="Tahoma"/>
              </a:rPr>
              <a:t>Opportunity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Sizing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400">
              <a:latin typeface="Tahoma"/>
              <a:cs typeface="Tahoma"/>
            </a:endParaRPr>
          </a:p>
          <a:p>
            <a:pPr marL="90805" marR="3429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ahoma"/>
                <a:cs typeface="Tahoma"/>
              </a:rPr>
              <a:t>Business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Client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Last Year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7267" y="1807464"/>
            <a:ext cx="5541645" cy="446278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800" b="1" spc="-155" dirty="0">
                <a:latin typeface="Tahoma"/>
                <a:cs typeface="Tahoma"/>
              </a:rPr>
              <a:t>Insights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if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any</a:t>
            </a:r>
            <a:endParaRPr sz="1800">
              <a:latin typeface="Tahoma"/>
              <a:cs typeface="Tahoma"/>
            </a:endParaRPr>
          </a:p>
          <a:p>
            <a:pPr marL="91440" marR="668020">
              <a:lnSpc>
                <a:spcPct val="100000"/>
              </a:lnSpc>
              <a:spcBef>
                <a:spcPts val="1710"/>
              </a:spcBef>
            </a:pPr>
            <a:r>
              <a:rPr sz="1400" spc="55" dirty="0">
                <a:latin typeface="Tahoma"/>
                <a:cs typeface="Tahoma"/>
              </a:rPr>
              <a:t>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ERP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category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 </a:t>
            </a:r>
            <a:r>
              <a:rPr sz="1400" spc="10" dirty="0">
                <a:latin typeface="Tahoma"/>
                <a:cs typeface="Tahoma"/>
              </a:rPr>
              <a:t>opportunity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conversion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  <a:p>
            <a:pPr marL="91440" marR="228600">
              <a:lnSpc>
                <a:spcPct val="100000"/>
              </a:lnSpc>
              <a:spcBef>
                <a:spcPts val="1680"/>
              </a:spcBef>
            </a:pPr>
            <a:r>
              <a:rPr sz="1400" spc="65" dirty="0">
                <a:latin typeface="Tahoma"/>
                <a:cs typeface="Tahoma"/>
              </a:rPr>
              <a:t>Most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Marketing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having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opportunity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rate.</a:t>
            </a:r>
            <a:endParaRPr sz="14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  <a:spcBef>
                <a:spcPts val="1680"/>
              </a:spcBef>
            </a:pPr>
            <a:r>
              <a:rPr sz="1400" spc="50" dirty="0">
                <a:latin typeface="Tahoma"/>
                <a:cs typeface="Tahoma"/>
              </a:rPr>
              <a:t>An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clients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who</a:t>
            </a:r>
            <a:endParaRPr sz="14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are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size(100K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less)</a:t>
            </a:r>
            <a:endParaRPr sz="1400">
              <a:latin typeface="Tahoma"/>
              <a:cs typeface="Tahoma"/>
            </a:endParaRPr>
          </a:p>
          <a:p>
            <a:pPr marL="91440" marR="45339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opportunity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conversion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rate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significantly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for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clients </a:t>
            </a:r>
            <a:r>
              <a:rPr sz="1400" dirty="0">
                <a:latin typeface="Tahoma"/>
                <a:cs typeface="Tahoma"/>
              </a:rPr>
              <a:t>with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potential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0-</a:t>
            </a:r>
            <a:r>
              <a:rPr sz="1400" spc="70" dirty="0">
                <a:latin typeface="Tahoma"/>
                <a:cs typeface="Tahoma"/>
              </a:rPr>
              <a:t>30K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range.</a:t>
            </a:r>
            <a:endParaRPr sz="1400">
              <a:latin typeface="Tahoma"/>
              <a:cs typeface="Tahoma"/>
            </a:endParaRPr>
          </a:p>
          <a:p>
            <a:pPr marL="91440" marR="545465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rate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despite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the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8571" y="1807464"/>
            <a:ext cx="2794000" cy="4462780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800" b="1" spc="-95" dirty="0">
                <a:latin typeface="Tahoma"/>
                <a:cs typeface="Tahoma"/>
              </a:rPr>
              <a:t>Pattern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of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Insight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Significant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Outliers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4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Significant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Outliers</a:t>
            </a:r>
            <a:endParaRPr sz="1400">
              <a:latin typeface="Tahoma"/>
              <a:cs typeface="Tahoma"/>
            </a:endParaRPr>
          </a:p>
          <a:p>
            <a:pPr marL="92075" marR="916305">
              <a:lnSpc>
                <a:spcPct val="300100"/>
              </a:lnSpc>
              <a:spcBef>
                <a:spcPts val="1680"/>
              </a:spcBef>
            </a:pPr>
            <a:r>
              <a:rPr sz="1400" dirty="0">
                <a:latin typeface="Tahoma"/>
                <a:cs typeface="Tahoma"/>
              </a:rPr>
              <a:t>Significant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Outliers </a:t>
            </a:r>
            <a:r>
              <a:rPr sz="1400" dirty="0">
                <a:latin typeface="Tahoma"/>
                <a:cs typeface="Tahoma"/>
              </a:rPr>
              <a:t>Surprising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Comparison Surprising</a:t>
            </a:r>
            <a:endParaRPr sz="14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Comparison/Significant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Outliers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0" y="68520"/>
            <a:ext cx="1224681" cy="5918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4602" y="333836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4663" y="926262"/>
            <a:ext cx="807859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5A5A5A"/>
                </a:solidFill>
                <a:latin typeface="+mj-lt"/>
                <a:cs typeface="Tahoma"/>
              </a:rPr>
              <a:t>Sales</a:t>
            </a:r>
            <a:r>
              <a:rPr sz="3000" spc="-24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Pipeline</a:t>
            </a:r>
            <a:r>
              <a:rPr sz="3000" spc="-23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Conversion</a:t>
            </a:r>
            <a:r>
              <a:rPr sz="3000" spc="-26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at</a:t>
            </a:r>
            <a:r>
              <a:rPr sz="3000" spc="-21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+mj-lt"/>
                <a:cs typeface="Tahoma"/>
              </a:rPr>
              <a:t>a</a:t>
            </a:r>
            <a:r>
              <a:rPr sz="3000" spc="-22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80" dirty="0">
                <a:solidFill>
                  <a:srgbClr val="5A5A5A"/>
                </a:solidFill>
                <a:latin typeface="+mj-lt"/>
                <a:cs typeface="Tahoma"/>
              </a:rPr>
              <a:t>SaaS</a:t>
            </a:r>
            <a:r>
              <a:rPr sz="3000" spc="-24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+mj-lt"/>
                <a:cs typeface="Tahoma"/>
              </a:rPr>
              <a:t>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91" y="1811273"/>
            <a:ext cx="10391140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Variable</a:t>
            </a:r>
            <a:r>
              <a:rPr sz="1800" b="1" spc="-21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under</a:t>
            </a:r>
            <a:r>
              <a:rPr sz="1800" b="1" spc="17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consideration: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Technology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Primary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710"/>
              </a:spcBef>
            </a:pPr>
            <a:r>
              <a:rPr sz="1400" spc="55" dirty="0">
                <a:latin typeface="Tahoma"/>
                <a:cs typeface="Tahoma"/>
              </a:rPr>
              <a:t>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ERP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they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opportunity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3400" y="3566898"/>
            <a:ext cx="10342880" cy="2289175"/>
            <a:chOff x="683400" y="3566898"/>
            <a:chExt cx="10342880" cy="2289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400" y="3576560"/>
              <a:ext cx="5454636" cy="22790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1279" y="3566898"/>
              <a:ext cx="3894766" cy="217488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8800" y="63124"/>
            <a:ext cx="1419822" cy="686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4602" y="333836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3776" y="927854"/>
            <a:ext cx="7848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5A5A5A"/>
                </a:solidFill>
                <a:latin typeface="+mj-lt"/>
                <a:cs typeface="Tahoma"/>
              </a:rPr>
              <a:t>Sales</a:t>
            </a:r>
            <a:r>
              <a:rPr sz="3000" spc="-24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Pipeline</a:t>
            </a:r>
            <a:r>
              <a:rPr sz="3000" spc="-23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Conversion</a:t>
            </a:r>
            <a:r>
              <a:rPr sz="3000" spc="-265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at</a:t>
            </a:r>
            <a:r>
              <a:rPr sz="3000" spc="-21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+mj-lt"/>
                <a:cs typeface="Tahoma"/>
              </a:rPr>
              <a:t>a</a:t>
            </a:r>
            <a:r>
              <a:rPr sz="3000" spc="-22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80" dirty="0">
                <a:solidFill>
                  <a:srgbClr val="5A5A5A"/>
                </a:solidFill>
                <a:latin typeface="+mj-lt"/>
                <a:cs typeface="Tahoma"/>
              </a:rPr>
              <a:t>SaaS</a:t>
            </a:r>
            <a:r>
              <a:rPr sz="3000" spc="-240" dirty="0">
                <a:solidFill>
                  <a:srgbClr val="5A5A5A"/>
                </a:solidFill>
                <a:latin typeface="+mj-lt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+mj-lt"/>
                <a:cs typeface="Tahoma"/>
              </a:rPr>
              <a:t>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91" y="1811273"/>
            <a:ext cx="10199370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Variable</a:t>
            </a:r>
            <a:r>
              <a:rPr sz="1800" b="1" spc="-21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under</a:t>
            </a:r>
            <a:r>
              <a:rPr sz="1800" b="1" spc="16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consideration: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B2B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Sales</a:t>
            </a:r>
            <a:r>
              <a:rPr sz="1800" b="1" spc="-19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Medium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710"/>
              </a:spcBef>
            </a:pPr>
            <a:r>
              <a:rPr sz="1400" spc="70" dirty="0">
                <a:latin typeface="Tahoma"/>
                <a:cs typeface="Tahoma"/>
              </a:rPr>
              <a:t>Most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Marketing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with</a:t>
            </a:r>
            <a:r>
              <a:rPr sz="1400" spc="3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having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opportunity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rate.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2335" y="3210248"/>
            <a:ext cx="10077450" cy="2865120"/>
            <a:chOff x="612335" y="3210248"/>
            <a:chExt cx="10077450" cy="28651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335" y="3210248"/>
              <a:ext cx="5269485" cy="28649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1660" y="3316165"/>
              <a:ext cx="3597910" cy="267797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31500" y="84147"/>
            <a:ext cx="1350012" cy="6524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9573" y="337003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2006" y="982532"/>
            <a:ext cx="7897367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Sales Pipeline Conversion at a SaaS 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91" y="1811273"/>
            <a:ext cx="8042909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Variable</a:t>
            </a:r>
            <a:r>
              <a:rPr sz="1800" b="1" spc="-204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under</a:t>
            </a:r>
            <a:r>
              <a:rPr sz="1800" b="1" spc="204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consideration: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Client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Revenue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Sizing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spc="55" dirty="0">
                <a:latin typeface="Tahoma"/>
                <a:cs typeface="Tahoma"/>
              </a:rPr>
              <a:t>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clients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who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less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size(100K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532" y="3381111"/>
            <a:ext cx="10637948" cy="24037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3400" y="74266"/>
            <a:ext cx="1370418" cy="6623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4602" y="333836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959754"/>
            <a:ext cx="7848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91" y="1811273"/>
            <a:ext cx="54286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Variable</a:t>
            </a:r>
            <a:r>
              <a:rPr sz="1800" b="1" spc="-21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under</a:t>
            </a:r>
            <a:r>
              <a:rPr sz="1800" b="1" spc="19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consideration:</a:t>
            </a:r>
            <a:r>
              <a:rPr sz="1800" b="1" spc="-175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Opportunity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Sizing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opportunity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conversion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rate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significantly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0-</a:t>
            </a:r>
            <a:r>
              <a:rPr sz="1400" spc="70" dirty="0">
                <a:latin typeface="Tahoma"/>
                <a:cs typeface="Tahoma"/>
              </a:rPr>
              <a:t>30K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range.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9365" y="3146358"/>
            <a:ext cx="10177780" cy="2993390"/>
            <a:chOff x="469365" y="3146358"/>
            <a:chExt cx="10177780" cy="29933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65" y="3156432"/>
              <a:ext cx="5441946" cy="28165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1110" y="3146358"/>
              <a:ext cx="3845475" cy="2993009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4200" y="61405"/>
            <a:ext cx="1318222" cy="6370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9525" y="340042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0790" y="1068070"/>
            <a:ext cx="783153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Sales Pipeline Conversion at a SaaS 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91" y="1811273"/>
            <a:ext cx="9862820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Variable</a:t>
            </a:r>
            <a:r>
              <a:rPr sz="1800" b="1" spc="-204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under</a:t>
            </a:r>
            <a:r>
              <a:rPr sz="1800" b="1" spc="204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consideration:</a:t>
            </a:r>
            <a:r>
              <a:rPr sz="1800" b="1" spc="-17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Business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from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Client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last</a:t>
            </a:r>
            <a:r>
              <a:rPr sz="1800" b="1" spc="-180" dirty="0">
                <a:latin typeface="Tahoma"/>
                <a:cs typeface="Tahoma"/>
              </a:rPr>
              <a:t> </a:t>
            </a:r>
            <a:r>
              <a:rPr sz="1800" b="1" spc="-20" dirty="0">
                <a:latin typeface="Tahoma"/>
                <a:cs typeface="Tahoma"/>
              </a:rPr>
              <a:t>year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rate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despite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9439" y="3320197"/>
            <a:ext cx="10419080" cy="2447925"/>
            <a:chOff x="679439" y="3320197"/>
            <a:chExt cx="10419080" cy="24479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439" y="3377011"/>
              <a:ext cx="5800945" cy="23221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1607" y="3320197"/>
              <a:ext cx="4106385" cy="244777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5300" y="56653"/>
            <a:ext cx="1406831" cy="6799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4602" y="333836"/>
            <a:ext cx="7622794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PART III A : Generating 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0" y="975706"/>
            <a:ext cx="7155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5A5A5A"/>
                </a:solidFill>
                <a:latin typeface="Tahoma"/>
                <a:cs typeface="Tahoma"/>
              </a:rPr>
              <a:t>Sales</a:t>
            </a:r>
            <a:r>
              <a:rPr sz="3000" spc="-24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Pipeline</a:t>
            </a:r>
            <a:r>
              <a:rPr sz="3000" spc="-2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spc="-26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spc="-21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spc="-22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80" dirty="0">
                <a:solidFill>
                  <a:srgbClr val="5A5A5A"/>
                </a:solidFill>
                <a:latin typeface="Tahoma"/>
                <a:cs typeface="Tahoma"/>
              </a:rPr>
              <a:t>SaaS</a:t>
            </a:r>
            <a:r>
              <a:rPr sz="3000" spc="-24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991" y="1798320"/>
            <a:ext cx="4038600" cy="4555490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sz="1800" b="1" spc="-65" dirty="0">
                <a:latin typeface="Tahoma"/>
                <a:cs typeface="Tahoma"/>
              </a:rPr>
              <a:t>Recommendations</a:t>
            </a:r>
            <a:endParaRPr sz="1800">
              <a:latin typeface="Tahoma"/>
              <a:cs typeface="Tahoma"/>
            </a:endParaRPr>
          </a:p>
          <a:p>
            <a:pPr marL="91440" marR="11620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ahoma"/>
                <a:cs typeface="Tahoma"/>
              </a:rPr>
              <a:t>Focus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following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categories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leads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ensuring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high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  <a:p>
            <a:pPr marL="187960" indent="-96520">
              <a:lnSpc>
                <a:spcPct val="100000"/>
              </a:lnSpc>
              <a:spcBef>
                <a:spcPts val="1680"/>
              </a:spcBef>
              <a:buChar char="-"/>
              <a:tabLst>
                <a:tab pos="187960" algn="l"/>
              </a:tabLst>
            </a:pPr>
            <a:r>
              <a:rPr sz="1400" dirty="0">
                <a:latin typeface="Tahoma"/>
                <a:cs typeface="Tahoma"/>
              </a:rPr>
              <a:t>ERP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as</a:t>
            </a:r>
            <a:r>
              <a:rPr sz="1400" spc="2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type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solution</a:t>
            </a:r>
            <a:endParaRPr sz="1400">
              <a:latin typeface="Tahoma"/>
              <a:cs typeface="Tahoma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offered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  <a:p>
            <a:pPr marL="187960" indent="-96520">
              <a:lnSpc>
                <a:spcPct val="100000"/>
              </a:lnSpc>
              <a:spcBef>
                <a:spcPts val="1680"/>
              </a:spcBef>
              <a:buChar char="-"/>
              <a:tabLst>
                <a:tab pos="187960" algn="l"/>
              </a:tabLst>
            </a:pP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B2B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Sales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Medium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Tahoma"/>
              <a:buChar char="-"/>
            </a:pPr>
            <a:endParaRPr sz="1400">
              <a:latin typeface="Tahoma"/>
              <a:cs typeface="Tahoma"/>
            </a:endParaRPr>
          </a:p>
          <a:p>
            <a:pPr marL="187960" indent="-96520">
              <a:lnSpc>
                <a:spcPct val="100000"/>
              </a:lnSpc>
              <a:buChar char="-"/>
              <a:tabLst>
                <a:tab pos="187960" algn="l"/>
              </a:tabLst>
            </a:pPr>
            <a:r>
              <a:rPr sz="1400" dirty="0">
                <a:latin typeface="Tahoma"/>
                <a:cs typeface="Tahoma"/>
              </a:rPr>
              <a:t>Client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Sizing(100K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Tahoma"/>
              <a:buChar char="-"/>
            </a:pPr>
            <a:endParaRPr sz="1400">
              <a:latin typeface="Tahoma"/>
              <a:cs typeface="Tahoma"/>
            </a:endParaRPr>
          </a:p>
          <a:p>
            <a:pPr marL="187960" indent="-96520">
              <a:lnSpc>
                <a:spcPct val="100000"/>
              </a:lnSpc>
              <a:spcBef>
                <a:spcPts val="5"/>
              </a:spcBef>
              <a:buChar char="-"/>
              <a:tabLst>
                <a:tab pos="187960" algn="l"/>
              </a:tabLst>
            </a:pPr>
            <a:r>
              <a:rPr sz="1400" dirty="0">
                <a:latin typeface="Tahoma"/>
                <a:cs typeface="Tahoma"/>
              </a:rPr>
              <a:t>Opportunity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Sizing</a:t>
            </a:r>
            <a:r>
              <a:rPr sz="1400" spc="4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(0-</a:t>
            </a:r>
            <a:r>
              <a:rPr sz="1400" spc="-20" dirty="0">
                <a:latin typeface="Tahoma"/>
                <a:cs typeface="Tahoma"/>
              </a:rPr>
              <a:t>30K)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Tahoma"/>
              <a:buChar char="-"/>
            </a:pPr>
            <a:endParaRPr sz="1400">
              <a:latin typeface="Tahoma"/>
              <a:cs typeface="Tahoma"/>
            </a:endParaRPr>
          </a:p>
          <a:p>
            <a:pPr marL="187960" indent="-96520">
              <a:lnSpc>
                <a:spcPct val="100000"/>
              </a:lnSpc>
              <a:spcBef>
                <a:spcPts val="5"/>
              </a:spcBef>
              <a:buChar char="-"/>
              <a:tabLst>
                <a:tab pos="187960" algn="l"/>
              </a:tabLst>
            </a:pP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94276" y="1799844"/>
            <a:ext cx="7207250" cy="4555490"/>
          </a:xfrm>
          <a:custGeom>
            <a:avLst/>
            <a:gdLst/>
            <a:ahLst/>
            <a:cxnLst/>
            <a:rect l="l" t="t" r="r" b="b"/>
            <a:pathLst>
              <a:path w="7207250" h="4555490">
                <a:moveTo>
                  <a:pt x="0" y="4555236"/>
                </a:moveTo>
                <a:lnTo>
                  <a:pt x="7206996" y="4555236"/>
                </a:lnTo>
                <a:lnTo>
                  <a:pt x="7206996" y="0"/>
                </a:lnTo>
                <a:lnTo>
                  <a:pt x="0" y="0"/>
                </a:lnTo>
                <a:lnTo>
                  <a:pt x="0" y="4555236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3904" y="1828038"/>
            <a:ext cx="2393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Tahoma"/>
                <a:cs typeface="Tahoma"/>
              </a:rPr>
              <a:t>Corresponding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35" dirty="0">
                <a:latin typeface="Tahoma"/>
                <a:cs typeface="Tahoma"/>
              </a:rPr>
              <a:t>Insights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3904" y="2745739"/>
            <a:ext cx="702437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latin typeface="Tahoma"/>
                <a:cs typeface="Tahoma"/>
              </a:rPr>
              <a:t>-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An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ERP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and </a:t>
            </a:r>
            <a:r>
              <a:rPr sz="1400" dirty="0">
                <a:latin typeface="Tahoma"/>
                <a:cs typeface="Tahoma"/>
              </a:rPr>
              <a:t>they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have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3904" y="3385820"/>
            <a:ext cx="651890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latin typeface="Tahoma"/>
                <a:cs typeface="Tahoma"/>
              </a:rPr>
              <a:t>-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Most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Marketing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with</a:t>
            </a:r>
            <a:r>
              <a:rPr sz="1400" spc="3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Enterprise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having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opportunity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rate.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3904" y="4026153"/>
            <a:ext cx="67335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Tahoma"/>
                <a:cs typeface="Tahoma"/>
              </a:rPr>
              <a:t>-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An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clients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who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less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revenue </a:t>
            </a:r>
            <a:r>
              <a:rPr sz="1400" dirty="0">
                <a:latin typeface="Tahoma"/>
                <a:cs typeface="Tahoma"/>
              </a:rPr>
              <a:t>size(100K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less)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3904" y="4666234"/>
            <a:ext cx="69424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latin typeface="Tahoma"/>
                <a:cs typeface="Tahoma"/>
              </a:rPr>
              <a:t>-</a:t>
            </a:r>
            <a:r>
              <a:rPr sz="1400" spc="2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opportunity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conversion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rate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significantly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for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clients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with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potential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revenue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0-</a:t>
            </a:r>
            <a:r>
              <a:rPr sz="1400" spc="70" dirty="0">
                <a:latin typeface="Tahoma"/>
                <a:cs typeface="Tahoma"/>
              </a:rPr>
              <a:t>30K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range.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3904" y="5306695"/>
            <a:ext cx="69507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Tahoma"/>
                <a:cs typeface="Tahoma"/>
              </a:rPr>
              <a:t>-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rate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despite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opportunities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0" y="66534"/>
            <a:ext cx="1386528" cy="6700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6504" y="274334"/>
            <a:ext cx="7157720" cy="167353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950"/>
              </a:spcBef>
            </a:pPr>
            <a:r>
              <a:rPr dirty="0">
                <a:latin typeface="+mj-lt"/>
              </a:rPr>
              <a:t>PART III B : Presenting Findings</a:t>
            </a: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3000" b="0" dirty="0">
                <a:solidFill>
                  <a:srgbClr val="5A5A5A"/>
                </a:solidFill>
                <a:latin typeface="+mj-lt"/>
                <a:cs typeface="Tahoma"/>
              </a:rPr>
              <a:t>Sales Pipeline Conversion at a SaaS Startup</a:t>
            </a:r>
            <a:endParaRPr sz="3000" dirty="0">
              <a:latin typeface="+mj-lt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6064" y="2362200"/>
            <a:ext cx="4038600" cy="3126497"/>
          </a:xfrm>
          <a:prstGeom prst="rect">
            <a:avLst/>
          </a:prstGeom>
          <a:ln w="9144">
            <a:solidFill>
              <a:srgbClr val="F69392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340"/>
              </a:spcBef>
            </a:pPr>
            <a:r>
              <a:rPr sz="1800" b="1" spc="-95" dirty="0">
                <a:latin typeface="Tahoma"/>
                <a:cs typeface="Tahoma"/>
              </a:rPr>
              <a:t>Final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60" dirty="0">
                <a:latin typeface="Tahoma"/>
                <a:cs typeface="Tahoma"/>
              </a:rPr>
              <a:t>Recommendations</a:t>
            </a:r>
            <a:endParaRPr sz="1800" dirty="0">
              <a:latin typeface="Tahoma"/>
              <a:cs typeface="Tahoma"/>
            </a:endParaRPr>
          </a:p>
          <a:p>
            <a:pPr marL="377825" marR="119380" indent="-285750">
              <a:spcBef>
                <a:spcPts val="1685"/>
              </a:spcBef>
              <a:buFont typeface="Wingdings" panose="05000000000000000000" pitchFamily="2" charset="2"/>
              <a:buChar char="§"/>
            </a:pPr>
            <a:r>
              <a:rPr sz="1400" dirty="0">
                <a:latin typeface="Tahoma"/>
                <a:cs typeface="Tahoma"/>
              </a:rPr>
              <a:t>Focus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following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categories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leads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ensuring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high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r>
              <a:rPr lang="en-US" sz="1400" spc="-20" dirty="0">
                <a:latin typeface="Tahoma"/>
                <a:cs typeface="Tahoma"/>
              </a:rPr>
              <a:t>, </a:t>
            </a:r>
            <a:r>
              <a:rPr sz="1400" dirty="0">
                <a:latin typeface="Tahoma"/>
                <a:cs typeface="Tahoma"/>
              </a:rPr>
              <a:t>ERP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category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solution </a:t>
            </a:r>
            <a:r>
              <a:rPr sz="1400" dirty="0">
                <a:latin typeface="Tahoma"/>
                <a:cs typeface="Tahoma"/>
              </a:rPr>
              <a:t>offered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r>
              <a:rPr lang="en-US"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B2B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Sales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Medium</a:t>
            </a:r>
            <a:endParaRPr lang="en-US" sz="1400" spc="-10" dirty="0">
              <a:latin typeface="Tahoma"/>
              <a:cs typeface="Tahoma"/>
            </a:endParaRPr>
          </a:p>
          <a:p>
            <a:pPr marL="377825" marR="119380" indent="-285750">
              <a:spcBef>
                <a:spcPts val="1685"/>
              </a:spcBef>
              <a:buFont typeface="Wingdings" panose="05000000000000000000" pitchFamily="2" charset="2"/>
              <a:buChar char="§"/>
            </a:pPr>
            <a:endParaRPr sz="1400" dirty="0">
              <a:latin typeface="Tahoma"/>
              <a:cs typeface="Tahoma"/>
            </a:endParaRPr>
          </a:p>
          <a:p>
            <a:pPr marL="377825" indent="-285750">
              <a:buFont typeface="Wingdings" panose="05000000000000000000" pitchFamily="2" charset="2"/>
              <a:buChar char="§"/>
              <a:tabLst>
                <a:tab pos="188595" algn="l"/>
              </a:tabLst>
            </a:pPr>
            <a:r>
              <a:rPr sz="1400" dirty="0">
                <a:latin typeface="Tahoma"/>
                <a:cs typeface="Tahoma"/>
              </a:rPr>
              <a:t>Client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Sizing(100K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less)</a:t>
            </a:r>
            <a:endParaRPr lang="en-US" sz="1400" spc="-10" dirty="0">
              <a:latin typeface="Tahoma"/>
              <a:cs typeface="Tahoma"/>
            </a:endParaRPr>
          </a:p>
          <a:p>
            <a:pPr marL="377825" indent="-285750">
              <a:buFont typeface="Wingdings" panose="05000000000000000000" pitchFamily="2" charset="2"/>
              <a:buChar char="§"/>
              <a:tabLst>
                <a:tab pos="188595" algn="l"/>
              </a:tabLst>
            </a:pPr>
            <a:endParaRPr sz="1400" dirty="0">
              <a:latin typeface="Tahoma"/>
              <a:cs typeface="Tahoma"/>
            </a:endParaRPr>
          </a:p>
          <a:p>
            <a:pPr marL="377825" indent="-285750">
              <a:buFont typeface="Wingdings" panose="05000000000000000000" pitchFamily="2" charset="2"/>
              <a:buChar char="§"/>
              <a:tabLst>
                <a:tab pos="188595" algn="l"/>
              </a:tabLst>
            </a:pPr>
            <a:r>
              <a:rPr sz="1400" dirty="0">
                <a:latin typeface="Tahoma"/>
                <a:cs typeface="Tahoma"/>
              </a:rPr>
              <a:t>Opportunity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Sizing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(0-</a:t>
            </a:r>
            <a:r>
              <a:rPr sz="1400" spc="-20" dirty="0">
                <a:latin typeface="Tahoma"/>
                <a:cs typeface="Tahoma"/>
              </a:rPr>
              <a:t>30K)</a:t>
            </a:r>
            <a:endParaRPr lang="en-US" sz="1400" spc="-20" dirty="0">
              <a:latin typeface="Tahoma"/>
              <a:cs typeface="Tahoma"/>
            </a:endParaRPr>
          </a:p>
          <a:p>
            <a:pPr marL="377825" indent="-285750">
              <a:buFont typeface="Wingdings" panose="05000000000000000000" pitchFamily="2" charset="2"/>
              <a:buChar char="§"/>
              <a:tabLst>
                <a:tab pos="188595" algn="l"/>
              </a:tabLst>
            </a:pPr>
            <a:endParaRPr sz="1400" dirty="0">
              <a:latin typeface="Tahoma"/>
              <a:cs typeface="Tahoma"/>
            </a:endParaRPr>
          </a:p>
          <a:p>
            <a:pPr marL="377825" indent="-285750">
              <a:buFont typeface="Wingdings" panose="05000000000000000000" pitchFamily="2" charset="2"/>
              <a:buChar char="§"/>
              <a:tabLst>
                <a:tab pos="188595" algn="l"/>
              </a:tabLst>
            </a:pP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9900" y="57995"/>
            <a:ext cx="1456767" cy="7040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400" y="3576560"/>
            <a:ext cx="5454636" cy="22790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1279" y="3566898"/>
            <a:ext cx="3894766" cy="21748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0015" y="1969141"/>
            <a:ext cx="10391140" cy="938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1800" b="1" spc="-110" dirty="0">
                <a:latin typeface="Tahoma"/>
                <a:cs typeface="Tahoma"/>
              </a:rPr>
              <a:t>Focus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on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ERP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35" dirty="0">
                <a:latin typeface="Tahoma"/>
                <a:cs typeface="Tahoma"/>
              </a:rPr>
              <a:t>Implementation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category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of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solutions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710"/>
              </a:spcBef>
            </a:pPr>
            <a:r>
              <a:rPr sz="1400" spc="55" dirty="0">
                <a:latin typeface="Tahoma"/>
                <a:cs typeface="Tahoma"/>
              </a:rPr>
              <a:t>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ERP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category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they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opportunity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rate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0600" y="416793"/>
            <a:ext cx="923417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232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+mj-lt"/>
              </a:rPr>
              <a:t>PART III B : Presenting Findings</a:t>
            </a:r>
            <a:br>
              <a:rPr lang="en-US" dirty="0">
                <a:latin typeface="+mj-lt"/>
              </a:rPr>
            </a:br>
            <a:r>
              <a:rPr kumimoji="0" lang="en-US" sz="3000" b="0" i="0" u="none" strike="noStrike" kern="1200" cap="none" spc="-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Sales</a:t>
            </a:r>
            <a:r>
              <a:rPr kumimoji="0" lang="en-US" sz="3000" b="0" i="0" u="none" strike="noStrike" kern="1200" cap="none" spc="-36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5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Pipeline</a:t>
            </a:r>
            <a:r>
              <a:rPr kumimoji="0" lang="en-US" sz="3000" b="0" i="0" u="none" strike="noStrike" kern="1200" cap="none" spc="-35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5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Conversion</a:t>
            </a:r>
            <a:r>
              <a:rPr kumimoji="0" lang="en-US" sz="3000" b="0" i="0" u="none" strike="noStrike" kern="1200" cap="none" spc="-37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at</a:t>
            </a:r>
            <a:r>
              <a:rPr kumimoji="0" lang="en-US" sz="3000" b="0" i="0" u="none" strike="noStrike" kern="1200" cap="none" spc="-3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7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n-US" sz="3000" b="0" i="0" u="none" strike="noStrike" kern="1200" cap="none" spc="-3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7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SaaS</a:t>
            </a:r>
            <a:r>
              <a:rPr kumimoji="0" lang="en-US" sz="3000" b="0" i="0" u="none" strike="noStrike" kern="1200" cap="none" spc="-35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1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Startup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endParaRPr lang="en-US" dirty="0">
              <a:latin typeface="+mj-l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7200" y="45725"/>
            <a:ext cx="1455693" cy="7035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335" y="3210248"/>
            <a:ext cx="5269485" cy="28649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1660" y="3316165"/>
            <a:ext cx="3597910" cy="26779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1410" y="1890120"/>
            <a:ext cx="10199370" cy="938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1800" b="1" spc="-110" dirty="0">
                <a:latin typeface="Tahoma"/>
                <a:cs typeface="Tahoma"/>
              </a:rPr>
              <a:t>Focus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on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Enterprise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Sellers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channel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45" dirty="0">
                <a:latin typeface="Tahoma"/>
                <a:cs typeface="Tahoma"/>
              </a:rPr>
              <a:t>as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the</a:t>
            </a:r>
            <a:r>
              <a:rPr sz="1800" b="1" spc="-120" dirty="0">
                <a:latin typeface="Tahoma"/>
                <a:cs typeface="Tahoma"/>
              </a:rPr>
              <a:t> </a:t>
            </a:r>
            <a:r>
              <a:rPr sz="1800" b="1" spc="-95" dirty="0">
                <a:latin typeface="Tahoma"/>
                <a:cs typeface="Tahoma"/>
              </a:rPr>
              <a:t>B2B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sales</a:t>
            </a:r>
            <a:r>
              <a:rPr sz="1800" b="1" spc="-16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medium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710"/>
              </a:spcBef>
            </a:pPr>
            <a:r>
              <a:rPr sz="1400" spc="70" dirty="0">
                <a:latin typeface="Tahoma"/>
                <a:cs typeface="Tahoma"/>
              </a:rPr>
              <a:t>Most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Marketing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and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with</a:t>
            </a:r>
            <a:r>
              <a:rPr sz="1400" spc="3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Enterprise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Sellers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having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better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average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opportunity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rate.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9955" y="490778"/>
            <a:ext cx="9331015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025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+mj-lt"/>
              </a:rPr>
              <a:t>PART III B : Presenting Findings</a:t>
            </a:r>
            <a:br>
              <a:rPr lang="en-US" dirty="0">
                <a:latin typeface="+mj-lt"/>
              </a:rPr>
            </a:br>
            <a:r>
              <a:rPr kumimoji="0" lang="en-US" sz="3000" b="0" i="0" u="none" strike="noStrike" kern="1200" cap="none" spc="-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Sales</a:t>
            </a:r>
            <a:r>
              <a:rPr kumimoji="0" lang="en-US" sz="3000" b="0" i="0" u="none" strike="noStrike" kern="1200" cap="none" spc="-36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5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Pipeline</a:t>
            </a:r>
            <a:r>
              <a:rPr kumimoji="0" lang="en-US" sz="3000" b="0" i="0" u="none" strike="noStrike" kern="1200" cap="none" spc="-35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5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Conversion</a:t>
            </a:r>
            <a:r>
              <a:rPr kumimoji="0" lang="en-US" sz="3000" b="0" i="0" u="none" strike="noStrike" kern="1200" cap="none" spc="-37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at</a:t>
            </a:r>
            <a:r>
              <a:rPr kumimoji="0" lang="en-US" sz="3000" b="0" i="0" u="none" strike="noStrike" kern="1200" cap="none" spc="-3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7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n-US" sz="3000" b="0" i="0" u="none" strike="noStrike" kern="1200" cap="none" spc="-33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7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SaaS</a:t>
            </a:r>
            <a:r>
              <a:rPr kumimoji="0" lang="en-US" sz="3000" b="0" i="0" u="none" strike="noStrike" kern="1200" cap="none" spc="-355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3000" b="0" i="0" u="none" strike="noStrike" kern="1200" cap="none" spc="-1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Startup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endParaRPr lang="en-US" dirty="0">
              <a:latin typeface="+mj-l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0" y="36596"/>
            <a:ext cx="1474596" cy="7127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532" y="3381111"/>
            <a:ext cx="10637948" cy="24037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9955" y="979445"/>
            <a:ext cx="10179609" cy="1531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0255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3000" spc="-36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Pipeline</a:t>
            </a:r>
            <a:r>
              <a:rPr sz="3000" spc="-35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Conversion</a:t>
            </a:r>
            <a:r>
              <a:rPr sz="3000" spc="-37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at</a:t>
            </a:r>
            <a:r>
              <a:rPr sz="3000" spc="-33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3000" spc="-33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7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SaaS</a:t>
            </a:r>
            <a:r>
              <a:rPr sz="3000" spc="-355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Startup</a:t>
            </a:r>
            <a:endParaRPr sz="3000" dirty="0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1800" b="1" spc="-110" dirty="0">
                <a:latin typeface="Tahoma"/>
                <a:cs typeface="Tahoma"/>
              </a:rPr>
              <a:t>Focus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clients</a:t>
            </a:r>
            <a:r>
              <a:rPr sz="1800" b="1" spc="-150" dirty="0">
                <a:latin typeface="Tahoma"/>
                <a:cs typeface="Tahoma"/>
              </a:rPr>
              <a:t> </a:t>
            </a:r>
            <a:r>
              <a:rPr sz="1800" b="1" spc="-145" dirty="0">
                <a:latin typeface="Tahoma"/>
                <a:cs typeface="Tahoma"/>
              </a:rPr>
              <a:t>who </a:t>
            </a:r>
            <a:r>
              <a:rPr sz="1800" b="1" spc="-120" dirty="0">
                <a:latin typeface="Tahoma"/>
                <a:cs typeface="Tahoma"/>
              </a:rPr>
              <a:t>have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45" dirty="0">
                <a:latin typeface="Tahoma"/>
                <a:cs typeface="Tahoma"/>
              </a:rPr>
              <a:t>a</a:t>
            </a:r>
            <a:r>
              <a:rPr sz="1800" b="1" spc="-15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revenue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size(100K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75" dirty="0">
                <a:latin typeface="Tahoma"/>
                <a:cs typeface="Tahoma"/>
              </a:rPr>
              <a:t>or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less)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spc="55" dirty="0">
                <a:latin typeface="Tahoma"/>
                <a:cs typeface="Tahoma"/>
              </a:rPr>
              <a:t>An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large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come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clients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who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less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revenue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size(100K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less)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24455" y="423126"/>
            <a:ext cx="694309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 (Headings)"/>
                <a:ea typeface="Tahoma" panose="020B0604030504040204" pitchFamily="34" charset="0"/>
                <a:cs typeface="Tahoma" panose="020B0604030504040204" pitchFamily="34" charset="0"/>
              </a:rPr>
              <a:t>PART III B : Presenting Findings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6900" y="96954"/>
            <a:ext cx="1349797" cy="6523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609" y="3266135"/>
            <a:ext cx="5441946" cy="28151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1110" y="3146358"/>
            <a:ext cx="3845475" cy="29930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8391" y="1007821"/>
            <a:ext cx="918591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0255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solidFill>
                  <a:srgbClr val="5A5A5A"/>
                </a:solidFill>
                <a:latin typeface="Tahoma"/>
                <a:cs typeface="Tahoma"/>
              </a:rPr>
              <a:t>Sales</a:t>
            </a:r>
            <a:r>
              <a:rPr sz="3000" spc="-36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Tahoma"/>
                <a:cs typeface="Tahoma"/>
              </a:rPr>
              <a:t>Pipeline</a:t>
            </a:r>
            <a:r>
              <a:rPr sz="300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spc="-37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spc="-3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spc="-3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5" dirty="0">
                <a:solidFill>
                  <a:srgbClr val="5A5A5A"/>
                </a:solidFill>
                <a:latin typeface="Tahoma"/>
                <a:cs typeface="Tahoma"/>
              </a:rPr>
              <a:t>SaaS</a:t>
            </a:r>
            <a:r>
              <a:rPr sz="300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1800" b="1" spc="-110" dirty="0">
                <a:latin typeface="Tahoma"/>
                <a:cs typeface="Tahoma"/>
              </a:rPr>
              <a:t>Focus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on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00" dirty="0">
                <a:latin typeface="Tahoma"/>
                <a:cs typeface="Tahoma"/>
              </a:rPr>
              <a:t>clients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where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the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revenue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generated</a:t>
            </a:r>
            <a:r>
              <a:rPr sz="1800" b="1" spc="-12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is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between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60" dirty="0">
                <a:latin typeface="Tahoma"/>
                <a:cs typeface="Tahoma"/>
              </a:rPr>
              <a:t>0-</a:t>
            </a:r>
            <a:r>
              <a:rPr sz="1800" b="1" spc="-80" dirty="0">
                <a:latin typeface="Tahoma"/>
                <a:cs typeface="Tahoma"/>
              </a:rPr>
              <a:t>30K</a:t>
            </a:r>
            <a:r>
              <a:rPr sz="1800" b="1" spc="-12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range.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opportunity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conversion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rate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significantly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0-</a:t>
            </a:r>
            <a:r>
              <a:rPr sz="1400" spc="70" dirty="0">
                <a:latin typeface="Tahoma"/>
                <a:cs typeface="Tahoma"/>
              </a:rPr>
              <a:t>30K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range.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81325" y="417198"/>
            <a:ext cx="701929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 (Headings)"/>
              </a:rPr>
              <a:t>PART III B : Presenting Findings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2600" y="70695"/>
            <a:ext cx="1456767" cy="7040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955" y="1784604"/>
            <a:ext cx="11162030" cy="4893945"/>
          </a:xfrm>
          <a:custGeom>
            <a:avLst/>
            <a:gdLst/>
            <a:ahLst/>
            <a:cxnLst/>
            <a:rect l="l" t="t" r="r" b="b"/>
            <a:pathLst>
              <a:path w="11162030" h="4893945">
                <a:moveTo>
                  <a:pt x="0" y="4893564"/>
                </a:moveTo>
                <a:lnTo>
                  <a:pt x="11161776" y="4893564"/>
                </a:lnTo>
                <a:lnTo>
                  <a:pt x="11161776" y="0"/>
                </a:lnTo>
                <a:lnTo>
                  <a:pt x="0" y="0"/>
                </a:lnTo>
                <a:lnTo>
                  <a:pt x="0" y="489356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39" y="3377011"/>
            <a:ext cx="5800945" cy="23221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1607" y="3320197"/>
            <a:ext cx="4106385" cy="24477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8391" y="1007821"/>
            <a:ext cx="986282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0255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solidFill>
                  <a:srgbClr val="5A5A5A"/>
                </a:solidFill>
                <a:latin typeface="Tahoma"/>
                <a:cs typeface="Tahoma"/>
              </a:rPr>
              <a:t>Sales</a:t>
            </a:r>
            <a:r>
              <a:rPr sz="3000" spc="-360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Tahoma"/>
                <a:cs typeface="Tahoma"/>
              </a:rPr>
              <a:t>Pipeline</a:t>
            </a:r>
            <a:r>
              <a:rPr sz="300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5A5A5A"/>
                </a:solidFill>
                <a:latin typeface="Tahoma"/>
                <a:cs typeface="Tahoma"/>
              </a:rPr>
              <a:t>Conversion</a:t>
            </a:r>
            <a:r>
              <a:rPr sz="3000" spc="-37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5A5A5A"/>
                </a:solidFill>
                <a:latin typeface="Tahoma"/>
                <a:cs typeface="Tahoma"/>
              </a:rPr>
              <a:t>at</a:t>
            </a:r>
            <a:r>
              <a:rPr sz="3000" spc="-3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0" dirty="0">
                <a:solidFill>
                  <a:srgbClr val="5A5A5A"/>
                </a:solidFill>
                <a:latin typeface="Tahoma"/>
                <a:cs typeface="Tahoma"/>
              </a:rPr>
              <a:t>a</a:t>
            </a:r>
            <a:r>
              <a:rPr sz="3000" spc="-33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75" dirty="0">
                <a:solidFill>
                  <a:srgbClr val="5A5A5A"/>
                </a:solidFill>
                <a:latin typeface="Tahoma"/>
                <a:cs typeface="Tahoma"/>
              </a:rPr>
              <a:t>SaaS</a:t>
            </a:r>
            <a:r>
              <a:rPr sz="3000" spc="-355" dirty="0">
                <a:solidFill>
                  <a:srgbClr val="5A5A5A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5A5A5A"/>
                </a:solidFill>
                <a:latin typeface="Tahoma"/>
                <a:cs typeface="Tahoma"/>
              </a:rPr>
              <a:t>Startup</a:t>
            </a:r>
            <a:endParaRPr sz="3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1800" b="1" spc="-110" dirty="0">
                <a:latin typeface="Tahoma"/>
                <a:cs typeface="Tahoma"/>
              </a:rPr>
              <a:t>Focus</a:t>
            </a:r>
            <a:r>
              <a:rPr sz="1800" b="1" spc="-125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on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Clients</a:t>
            </a:r>
            <a:r>
              <a:rPr sz="1800" b="1" spc="-130" dirty="0">
                <a:latin typeface="Tahoma"/>
                <a:cs typeface="Tahoma"/>
              </a:rPr>
              <a:t> </a:t>
            </a:r>
            <a:r>
              <a:rPr sz="1800" b="1" spc="-145" dirty="0">
                <a:latin typeface="Tahoma"/>
                <a:cs typeface="Tahoma"/>
              </a:rPr>
              <a:t>who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are</a:t>
            </a:r>
            <a:r>
              <a:rPr sz="1800" b="1" spc="-13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already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120" dirty="0">
                <a:latin typeface="Tahoma"/>
                <a:cs typeface="Tahoma"/>
              </a:rPr>
              <a:t>existing</a:t>
            </a:r>
            <a:r>
              <a:rPr sz="1800" b="1" spc="-1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customers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conversion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rate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existing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customers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despite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number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opportunities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unusually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large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newer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customers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19425" y="342676"/>
            <a:ext cx="694309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 (Headings)"/>
              </a:rPr>
              <a:t>PART III B : Presenting Findings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100" y="44490"/>
            <a:ext cx="1300608" cy="628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2158</Words>
  <Application>Microsoft Office PowerPoint</Application>
  <PresentationFormat>Widescreen</PresentationFormat>
  <Paragraphs>247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 (Headings)</vt:lpstr>
      <vt:lpstr>Arial</vt:lpstr>
      <vt:lpstr>Calibri</vt:lpstr>
      <vt:lpstr>Calibri Light</vt:lpstr>
      <vt:lpstr>Lato</vt:lpstr>
      <vt:lpstr>Tahoma</vt:lpstr>
      <vt:lpstr>Wingdings</vt:lpstr>
      <vt:lpstr>Office Theme</vt:lpstr>
      <vt:lpstr>2_Custom Design</vt:lpstr>
      <vt:lpstr>1_Custom Design</vt:lpstr>
      <vt:lpstr>Custom Design</vt:lpstr>
      <vt:lpstr>ASSIGNMENT   Name: …………………………..</vt:lpstr>
      <vt:lpstr>ASSIGNMENT GUIDELINES</vt:lpstr>
      <vt:lpstr>PART I : 1. Understanding the Problem Sales Pipeline Conversion at a SaaS Startup</vt:lpstr>
      <vt:lpstr>PART I : 2. Understanding the Problem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 : Formulating Hypotheses Sales Pipeline Conversion at a SaaS Startup</vt:lpstr>
      <vt:lpstr>PART III A : Generating Insights</vt:lpstr>
      <vt:lpstr>PART III A : Generating Insights</vt:lpstr>
      <vt:lpstr>PART III A : Generating Insights</vt:lpstr>
      <vt:lpstr>PART III A : Generating Insights</vt:lpstr>
      <vt:lpstr>PART III A : Generating Insights</vt:lpstr>
      <vt:lpstr>PART III A : Generating Insights</vt:lpstr>
      <vt:lpstr>PART III A : Generating Insights</vt:lpstr>
      <vt:lpstr>PART III B : Presenting Findings Sales Pipeline Conversion at a SaaS Startup</vt:lpstr>
      <vt:lpstr>PART III B : Presenting Findings Sales Pipeline Conversion at a SaaS Startup </vt:lpstr>
      <vt:lpstr>PART III B : Presenting Findings Sales Pipeline Conversion at a SaaS Startup </vt:lpstr>
      <vt:lpstr>PART III B : Presenting Findings</vt:lpstr>
      <vt:lpstr>PART III B : Presenting Findings</vt:lpstr>
      <vt:lpstr>PART III B : Presenting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  Name: …………………………..</dc:title>
  <dc:creator>Dell</dc:creator>
  <cp:lastModifiedBy>Nandini soni</cp:lastModifiedBy>
  <cp:revision>2</cp:revision>
  <dcterms:created xsi:type="dcterms:W3CDTF">2024-09-05T12:42:51Z</dcterms:created>
  <dcterms:modified xsi:type="dcterms:W3CDTF">2024-09-05T13:50:27Z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2019-04-17T00:00:00Z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2024-09-05T00:00:00Z</vt:filetime>
  </property>
</Properties>
</file>